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0"/>
  </p:notesMasterIdLst>
  <p:sldIdLst>
    <p:sldId id="374" r:id="rId2"/>
    <p:sldId id="375" r:id="rId3"/>
    <p:sldId id="257" r:id="rId4"/>
    <p:sldId id="376" r:id="rId5"/>
    <p:sldId id="377" r:id="rId6"/>
    <p:sldId id="384" r:id="rId7"/>
    <p:sldId id="378" r:id="rId8"/>
    <p:sldId id="389" r:id="rId9"/>
    <p:sldId id="390" r:id="rId10"/>
    <p:sldId id="391" r:id="rId11"/>
    <p:sldId id="385" r:id="rId12"/>
    <p:sldId id="386" r:id="rId13"/>
    <p:sldId id="387" r:id="rId14"/>
    <p:sldId id="393" r:id="rId15"/>
    <p:sldId id="394" r:id="rId16"/>
    <p:sldId id="379" r:id="rId17"/>
    <p:sldId id="380" r:id="rId18"/>
    <p:sldId id="3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3E4DF5-370D-403B-986E-0DC90CB71DD1}" v="991" dt="2026-05-08T21:32:21.367"/>
    <p1510:client id="{E61217A9-F86E-4797-B0F3-2AAC8C4BE177}" v="171" dt="2026-05-08T18:40:30.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AFF0E-449D-426B-83E6-7E557F3BCD7F}" type="datetimeFigureOut">
              <a:rPr lang="en-IN" smtClean="0"/>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2ADFC2-4656-49F6-8F5B-84313FD65219}" type="slidenum">
              <a:rPr lang="en-IN" smtClean="0"/>
              <a:t>‹#›</a:t>
            </a:fld>
            <a:endParaRPr lang="en-IN"/>
          </a:p>
        </p:txBody>
      </p:sp>
    </p:spTree>
    <p:extLst>
      <p:ext uri="{BB962C8B-B14F-4D97-AF65-F5344CB8AC3E}">
        <p14:creationId xmlns:p14="http://schemas.microsoft.com/office/powerpoint/2010/main" val="29312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95773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6141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77886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42233-8E7F-1671-BF5F-722C91D49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9EE1E-8666-B334-C784-26C468F771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8539-6089-4645-B5D2-CB6BE1BF44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48C1CE-52CD-8BB7-9C58-D1ED8B45A14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45075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62712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8213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45130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08953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5/8/2026</a:t>
            </a:fld>
            <a:endParaRPr lang="en-US" dirty="0"/>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3936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5/8/2026</a:t>
            </a:fld>
            <a:endParaRPr lang="en-US" dirty="0"/>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136003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5/8/2026</a:t>
            </a:fld>
            <a:endParaRPr lang="en-US" dirty="0"/>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054619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5/8/2026</a:t>
            </a:fld>
            <a:endParaRPr lang="en-US" dirty="0"/>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666313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5/8/2026</a:t>
            </a:fld>
            <a:endParaRPr lang="en-US" dirty="0"/>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561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5/8/2026</a:t>
            </a:fld>
            <a:endParaRPr lang="en-US" dirty="0"/>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31159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5/8/2026</a:t>
            </a:fld>
            <a:endParaRPr lang="en-US" dirty="0"/>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47358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5/8/2026</a:t>
            </a:fld>
            <a:endParaRPr lang="en-US" dirty="0"/>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880041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5334001" y="762000"/>
            <a:ext cx="5333999" cy="5334000"/>
          </a:xfrm>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5/8/2026</a:t>
            </a:fld>
            <a:endParaRPr lang="en-US" dirty="0"/>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334674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5/8/2026</a:t>
            </a:fld>
            <a:endParaRPr lang="en-US" dirty="0"/>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784526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5/8/2026</a:t>
            </a:fld>
            <a:endParaRPr lang="en-US" dirty="0"/>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631384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2690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B70A3DFD-A535-46B2-84C1-61DC8B16A904}" type="datetimeFigureOut">
              <a:rPr lang="en-US" dirty="0"/>
              <a:t>5/8/2026</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196A61CA-0502-4EE4-9724-96EA822543E5}" type="slidenum">
              <a:rPr lang="en-US" dirty="0"/>
              <a:t>‹#›</a:t>
            </a:fld>
            <a:endParaRPr lang="en-US" dirty="0"/>
          </a:p>
        </p:txBody>
      </p:sp>
    </p:spTree>
    <p:extLst>
      <p:ext uri="{BB962C8B-B14F-4D97-AF65-F5344CB8AC3E}">
        <p14:creationId xmlns:p14="http://schemas.microsoft.com/office/powerpoint/2010/main" val="805288476"/>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3840">
          <p15:clr>
            <a:srgbClr val="F26B43"/>
          </p15:clr>
        </p15:guide>
        <p15:guide id="3" pos="7200">
          <p15:clr>
            <a:srgbClr val="F26B43"/>
          </p15:clr>
        </p15:guide>
        <p15:guide id="4" pos="6720">
          <p15:clr>
            <a:srgbClr val="F26B43"/>
          </p15:clr>
        </p15:guide>
        <p15:guide id="16" pos="480">
          <p15:clr>
            <a:srgbClr val="F26B43"/>
          </p15:clr>
        </p15:guide>
        <p15:guide id="23" orient="horz" pos="384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notion.so/?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drive.google.com/?utm_source=chatgpt.com"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98">
            <a:extLst>
              <a:ext uri="{FF2B5EF4-FFF2-40B4-BE49-F238E27FC236}">
                <a16:creationId xmlns:a16="http://schemas.microsoft.com/office/drawing/2014/main" id="{AA78BBCF-2634-4089-8492-D8569E905F67}"/>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35216" t="9860" r="35722" b="40504"/>
          <a:stretch/>
        </p:blipFill>
        <p:spPr>
          <a:xfrm>
            <a:off x="7372538" y="1619794"/>
            <a:ext cx="4421349" cy="5638238"/>
          </a:xfrm>
          <a:prstGeom prst="rect">
            <a:avLst/>
          </a:prstGeom>
        </p:spPr>
      </p:pic>
      <p:sp>
        <p:nvSpPr>
          <p:cNvPr id="75" name="TextBox 74">
            <a:extLst>
              <a:ext uri="{FF2B5EF4-FFF2-40B4-BE49-F238E27FC236}">
                <a16:creationId xmlns:a16="http://schemas.microsoft.com/office/drawing/2014/main" id="{966C81A6-8FBD-44BD-9DF5-A762864663F9}"/>
              </a:ext>
            </a:extLst>
          </p:cNvPr>
          <p:cNvSpPr txBox="1"/>
          <p:nvPr/>
        </p:nvSpPr>
        <p:spPr>
          <a:xfrm>
            <a:off x="0" y="604461"/>
            <a:ext cx="2182586" cy="400110"/>
          </a:xfrm>
          <a:prstGeom prst="rect">
            <a:avLst/>
          </a:prstGeom>
          <a:noFill/>
        </p:spPr>
        <p:txBody>
          <a:bodyPr wrap="square">
            <a:spAutoFit/>
          </a:bodyPr>
          <a:lstStyle/>
          <a:p>
            <a:pPr algn="ctr"/>
            <a:r>
              <a:rPr lang="en-US" sz="2000" b="1">
                <a:latin typeface="Berlin Sans FB Demi" panose="020E0802020502020306" pitchFamily="34" charset="0"/>
                <a:ea typeface="SamsungOne 800" panose="020B0903030303020204" pitchFamily="34" charset="0"/>
              </a:rPr>
              <a:t>CLASH OF THE</a:t>
            </a:r>
            <a:endParaRPr lang="en-US" sz="2000" b="1">
              <a:solidFill>
                <a:srgbClr val="E81B25"/>
              </a:solidFill>
              <a:latin typeface="Berlin Sans FB Demi" panose="020E0802020502020306" pitchFamily="34" charset="0"/>
              <a:ea typeface="SamsungOne 800" panose="020B0903030303020204" pitchFamily="34" charset="0"/>
            </a:endParaRPr>
          </a:p>
        </p:txBody>
      </p:sp>
      <p:sp>
        <p:nvSpPr>
          <p:cNvPr id="93" name="TextBox 92">
            <a:extLst>
              <a:ext uri="{FF2B5EF4-FFF2-40B4-BE49-F238E27FC236}">
                <a16:creationId xmlns:a16="http://schemas.microsoft.com/office/drawing/2014/main" id="{52DB02A4-569F-4135-9840-A60286D3E03F}"/>
              </a:ext>
            </a:extLst>
          </p:cNvPr>
          <p:cNvSpPr txBox="1"/>
          <p:nvPr/>
        </p:nvSpPr>
        <p:spPr>
          <a:xfrm>
            <a:off x="1756232" y="436120"/>
            <a:ext cx="2091163" cy="646331"/>
          </a:xfrm>
          <a:prstGeom prst="rect">
            <a:avLst/>
          </a:prstGeom>
          <a:noFill/>
        </p:spPr>
        <p:txBody>
          <a:bodyPr wrap="square">
            <a:spAutoFit/>
          </a:bodyPr>
          <a:lstStyle/>
          <a:p>
            <a:pPr algn="ctr"/>
            <a:r>
              <a:rPr lang="en-US" sz="3600" b="1">
                <a:solidFill>
                  <a:srgbClr val="E81B25"/>
                </a:solidFill>
                <a:latin typeface="Berlin Sans FB Demi" panose="020E0802020502020306" pitchFamily="34" charset="0"/>
                <a:ea typeface="SamsungOne 800" panose="020B0903030303020204" pitchFamily="34" charset="0"/>
              </a:rPr>
              <a:t>CLAWS</a:t>
            </a:r>
            <a:endParaRPr lang="en-IN" sz="3600">
              <a:latin typeface="Berlin Sans FB Demi" panose="020E0802020502020306" pitchFamily="34" charset="0"/>
            </a:endParaRPr>
          </a:p>
        </p:txBody>
      </p:sp>
      <p:sp>
        <p:nvSpPr>
          <p:cNvPr id="100" name="TextBox 99">
            <a:extLst>
              <a:ext uri="{FF2B5EF4-FFF2-40B4-BE49-F238E27FC236}">
                <a16:creationId xmlns:a16="http://schemas.microsoft.com/office/drawing/2014/main" id="{DD060EA0-A6D1-484F-8987-38123CE63233}"/>
              </a:ext>
            </a:extLst>
          </p:cNvPr>
          <p:cNvSpPr txBox="1"/>
          <p:nvPr/>
        </p:nvSpPr>
        <p:spPr>
          <a:xfrm>
            <a:off x="349729" y="1609155"/>
            <a:ext cx="6932522" cy="5139869"/>
          </a:xfrm>
          <a:prstGeom prst="rect">
            <a:avLst/>
          </a:prstGeom>
          <a:noFill/>
        </p:spPr>
        <p:txBody>
          <a:bodyPr wrap="square" lIns="91440" tIns="45720" rIns="91440" bIns="45720" anchor="t">
            <a:spAutoFit/>
          </a:bodyPr>
          <a:lstStyle/>
          <a:p>
            <a:pPr algn="ctr"/>
            <a:r>
              <a:rPr lang="en-US" sz="4000" b="1">
                <a:solidFill>
                  <a:srgbClr val="E81B25"/>
                </a:solidFill>
                <a:latin typeface="Berlin Sans FB Demi" panose="020E0802020502020306" pitchFamily="34" charset="0"/>
                <a:ea typeface="SamsungOne 800" panose="020B0903030303020204" pitchFamily="34" charset="0"/>
              </a:rPr>
              <a:t>M S </a:t>
            </a:r>
            <a:r>
              <a:rPr lang="en-US" sz="4000" b="1" err="1">
                <a:solidFill>
                  <a:srgbClr val="E81B25"/>
                </a:solidFill>
                <a:latin typeface="Berlin Sans FB Demi" panose="020E0802020502020306" pitchFamily="34" charset="0"/>
                <a:ea typeface="SamsungOne 800" panose="020B0903030303020204" pitchFamily="34" charset="0"/>
              </a:rPr>
              <a:t>Ramaiah_Clover</a:t>
            </a:r>
            <a:endParaRPr lang="en-US" sz="4000" b="1">
              <a:solidFill>
                <a:srgbClr val="E81B25"/>
              </a:solidFill>
              <a:latin typeface="Berlin Sans FB Demi" panose="020E0802020502020306" pitchFamily="34" charset="0"/>
              <a:ea typeface="SamsungOne 800" panose="020B0903030303020204" pitchFamily="34" charset="0"/>
            </a:endParaRPr>
          </a:p>
          <a:p>
            <a:pPr algn="ctr"/>
            <a:r>
              <a:rPr lang="en-US" sz="4000" b="1">
                <a:solidFill>
                  <a:srgbClr val="E81B25"/>
                </a:solidFill>
                <a:latin typeface="Berlin Sans FB Demi"/>
                <a:ea typeface="SamsungOne 800" panose="020B0903030303020204" pitchFamily="34" charset="0"/>
              </a:rPr>
              <a:t>MACHA – Mess</a:t>
            </a:r>
            <a:r>
              <a:rPr lang="en-US" sz="3600" b="1">
                <a:solidFill>
                  <a:srgbClr val="E81B25"/>
                </a:solidFill>
                <a:latin typeface="Berlin Sans FB Demi"/>
                <a:ea typeface="SamsungOne 800" panose="020B0903030303020204" pitchFamily="34" charset="0"/>
              </a:rPr>
              <a:t>age-Driven Academic Content Harmonization Agent</a:t>
            </a:r>
          </a:p>
          <a:p>
            <a:pPr algn="ctr"/>
            <a:endParaRPr lang="en-US" sz="4000" b="1">
              <a:solidFill>
                <a:srgbClr val="E81B25"/>
              </a:solidFill>
              <a:latin typeface="Berlin Sans FB Demi" panose="020E0802020502020306" pitchFamily="34" charset="0"/>
              <a:ea typeface="SamsungOne 800" panose="020B0903030303020204" pitchFamily="34" charset="0"/>
            </a:endParaRPr>
          </a:p>
          <a:p>
            <a:pPr algn="ctr"/>
            <a:r>
              <a:rPr lang="en-US" sz="2400">
                <a:solidFill>
                  <a:schemeClr val="tx2"/>
                </a:solidFill>
                <a:latin typeface="Berlin Sans FB Demi" panose="020E0802020502020306" pitchFamily="34" charset="0"/>
                <a:ea typeface="SamsungOne 800" panose="020B0903030303020204" pitchFamily="34" charset="0"/>
              </a:rPr>
              <a:t>Kartik Katwe</a:t>
            </a:r>
          </a:p>
          <a:p>
            <a:pPr algn="ctr"/>
            <a:r>
              <a:rPr lang="en-US" sz="2400" b="1">
                <a:solidFill>
                  <a:schemeClr val="tx2"/>
                </a:solidFill>
                <a:latin typeface="Berlin Sans FB Demi" panose="020E0802020502020306" pitchFamily="34" charset="0"/>
                <a:ea typeface="SamsungOne 800" panose="020B0903030303020204" pitchFamily="34" charset="0"/>
              </a:rPr>
              <a:t>Mohammed Fouzan Anwar</a:t>
            </a:r>
          </a:p>
          <a:p>
            <a:pPr algn="ctr"/>
            <a:r>
              <a:rPr lang="en-US" sz="2400" b="1">
                <a:solidFill>
                  <a:schemeClr val="tx2"/>
                </a:solidFill>
                <a:latin typeface="Berlin Sans FB Demi" panose="020E0802020502020306" pitchFamily="34" charset="0"/>
                <a:ea typeface="SamsungOne 800" panose="020B0903030303020204" pitchFamily="34" charset="0"/>
              </a:rPr>
              <a:t>Amisha</a:t>
            </a:r>
          </a:p>
          <a:p>
            <a:pPr algn="ctr"/>
            <a:r>
              <a:rPr lang="en-US" sz="2400" b="1">
                <a:solidFill>
                  <a:schemeClr val="tx2"/>
                </a:solidFill>
                <a:latin typeface="Berlin Sans FB Demi" panose="020E0802020502020306" pitchFamily="34" charset="0"/>
                <a:ea typeface="SamsungOne 800" panose="020B0903030303020204" pitchFamily="34" charset="0"/>
              </a:rPr>
              <a:t>Amani Masood</a:t>
            </a:r>
            <a:br>
              <a:rPr lang="en-US" sz="4000" b="1">
                <a:solidFill>
                  <a:schemeClr val="tx2"/>
                </a:solidFill>
                <a:latin typeface="Berlin Sans FB Demi" panose="020E0802020502020306" pitchFamily="34" charset="0"/>
                <a:ea typeface="SamsungOne 800" panose="020B0903030303020204" pitchFamily="34" charset="0"/>
              </a:rPr>
            </a:br>
            <a:endParaRPr lang="en-US" sz="4000" b="1">
              <a:solidFill>
                <a:schemeClr val="tx2"/>
              </a:solidFill>
              <a:latin typeface="Berlin Sans FB Demi" panose="020E0802020502020306" pitchFamily="34" charset="0"/>
              <a:ea typeface="SamsungOne 800" panose="020B0903030303020204" pitchFamily="34" charset="0"/>
            </a:endParaRPr>
          </a:p>
        </p:txBody>
      </p:sp>
      <p:grpSp>
        <p:nvGrpSpPr>
          <p:cNvPr id="2" name="Group 1">
            <a:extLst>
              <a:ext uri="{FF2B5EF4-FFF2-40B4-BE49-F238E27FC236}">
                <a16:creationId xmlns:a16="http://schemas.microsoft.com/office/drawing/2014/main" id="{8263B24E-BBCD-4BAC-9AEF-81547E82C9E5}"/>
              </a:ext>
            </a:extLst>
          </p:cNvPr>
          <p:cNvGrpSpPr/>
          <p:nvPr/>
        </p:nvGrpSpPr>
        <p:grpSpPr>
          <a:xfrm>
            <a:off x="137355" y="46746"/>
            <a:ext cx="3814159" cy="639045"/>
            <a:chOff x="137355" y="133834"/>
            <a:chExt cx="3814159" cy="639045"/>
          </a:xfrm>
        </p:grpSpPr>
        <p:pic>
          <p:nvPicPr>
            <p:cNvPr id="21" name="Picture 20">
              <a:extLst>
                <a:ext uri="{FF2B5EF4-FFF2-40B4-BE49-F238E27FC236}">
                  <a16:creationId xmlns:a16="http://schemas.microsoft.com/office/drawing/2014/main" id="{3C9D2D8C-378C-4311-B59D-9891D5378E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355" y="133834"/>
              <a:ext cx="974396" cy="639045"/>
            </a:xfrm>
            <a:prstGeom prst="rect">
              <a:avLst/>
            </a:prstGeom>
          </p:spPr>
        </p:pic>
        <p:sp>
          <p:nvSpPr>
            <p:cNvPr id="7" name="TextBox 6">
              <a:extLst>
                <a:ext uri="{FF2B5EF4-FFF2-40B4-BE49-F238E27FC236}">
                  <a16:creationId xmlns:a16="http://schemas.microsoft.com/office/drawing/2014/main" id="{5AA001E0-3B05-4E97-9F59-DA7472558885}"/>
                </a:ext>
              </a:extLst>
            </p:cNvPr>
            <p:cNvSpPr txBox="1"/>
            <p:nvPr/>
          </p:nvSpPr>
          <p:spPr>
            <a:xfrm>
              <a:off x="1017814" y="244337"/>
              <a:ext cx="2933700" cy="369332"/>
            </a:xfrm>
            <a:prstGeom prst="rect">
              <a:avLst/>
            </a:prstGeom>
            <a:noFill/>
          </p:spPr>
          <p:txBody>
            <a:bodyPr wrap="square">
              <a:spAutoFit/>
            </a:bodyPr>
            <a:lstStyle/>
            <a:p>
              <a:pPr algn="ctr"/>
              <a:r>
                <a:rPr lang="en-US" b="1">
                  <a:latin typeface="Berlin Sans FB Demi" panose="020E0802020502020306" pitchFamily="34" charset="0"/>
                  <a:ea typeface="SamsungOne 800" panose="020B0903030303020204" pitchFamily="34" charset="0"/>
                </a:rPr>
                <a:t>| Tech Management, SRI-B</a:t>
              </a:r>
              <a:endParaRPr lang="en-US" b="1">
                <a:solidFill>
                  <a:srgbClr val="E81B25"/>
                </a:solidFill>
                <a:latin typeface="Berlin Sans FB Demi" panose="020E0802020502020306" pitchFamily="34" charset="0"/>
                <a:ea typeface="SamsungOne 800" panose="020B0903030303020204" pitchFamily="34" charset="0"/>
              </a:endParaRPr>
            </a:p>
          </p:txBody>
        </p:sp>
      </p:grpSp>
    </p:spTree>
    <p:extLst>
      <p:ext uri="{BB962C8B-B14F-4D97-AF65-F5344CB8AC3E}">
        <p14:creationId xmlns:p14="http://schemas.microsoft.com/office/powerpoint/2010/main" val="2354731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a:solidFill>
                  <a:schemeClr val="bg1"/>
                </a:solidFill>
              </a:rPr>
              <a:t>Idea</a:t>
            </a:r>
            <a:endParaRPr lang="en-US" sz="1000">
              <a:solidFill>
                <a:schemeClr val="bg1"/>
              </a:solidFill>
            </a:endParaRPr>
          </a:p>
        </p:txBody>
      </p:sp>
      <p:sp>
        <p:nvSpPr>
          <p:cNvPr id="5" name="Text 3"/>
          <p:cNvSpPr/>
          <p:nvPr/>
        </p:nvSpPr>
        <p:spPr>
          <a:xfrm>
            <a:off x="3336758" y="42244"/>
            <a:ext cx="10972800" cy="772491"/>
          </a:xfrm>
          <a:prstGeom prst="rect">
            <a:avLst/>
          </a:prstGeom>
          <a:noFill/>
          <a:ln/>
        </p:spPr>
        <p:txBody>
          <a:bodyPr wrap="square" lIns="0" tIns="0" rIns="0" bIns="0" rtlCol="0" anchor="ctr"/>
          <a:lstStyle/>
          <a:p>
            <a:r>
              <a:rPr lang="en-US" sz="4267" b="1">
                <a:latin typeface="Calibri" pitchFamily="34" charset="0"/>
                <a:ea typeface="Calibri" pitchFamily="34" charset="-122"/>
                <a:cs typeface="Calibri" pitchFamily="34" charset="-120"/>
              </a:rPr>
              <a:t>Problem Statement</a:t>
            </a:r>
            <a:endParaRPr lang="en-US" sz="4267"/>
          </a:p>
        </p:txBody>
      </p:sp>
      <p:sp>
        <p:nvSpPr>
          <p:cNvPr id="18" name="Text 1">
            <a:extLst>
              <a:ext uri="{FF2B5EF4-FFF2-40B4-BE49-F238E27FC236}">
                <a16:creationId xmlns:a16="http://schemas.microsoft.com/office/drawing/2014/main" id="{B0488D4E-8E6D-456D-9B00-8A96881B3AC1}"/>
              </a:ext>
            </a:extLst>
          </p:cNvPr>
          <p:cNvSpPr/>
          <p:nvPr/>
        </p:nvSpPr>
        <p:spPr>
          <a:xfrm>
            <a:off x="5561537" y="967563"/>
            <a:ext cx="5120640" cy="5486400"/>
          </a:xfrm>
          <a:prstGeom prst="rect">
            <a:avLst/>
          </a:prstGeom>
          <a:noFill/>
          <a:ln/>
        </p:spPr>
        <p:txBody>
          <a:bodyPr wrap="square" rtlCol="0" anchor="ctr"/>
          <a:lstStyle/>
          <a:p>
            <a:pPr algn="ctr"/>
            <a:endParaRPr lang="en-US" sz="26666"/>
          </a:p>
        </p:txBody>
      </p:sp>
      <p:sp>
        <p:nvSpPr>
          <p:cNvPr id="9" name="TextBox 8">
            <a:extLst>
              <a:ext uri="{FF2B5EF4-FFF2-40B4-BE49-F238E27FC236}">
                <a16:creationId xmlns:a16="http://schemas.microsoft.com/office/drawing/2014/main" id="{04DB0243-BB37-4E48-8F2A-F31495290DC7}"/>
              </a:ext>
            </a:extLst>
          </p:cNvPr>
          <p:cNvSpPr txBox="1"/>
          <p:nvPr/>
        </p:nvSpPr>
        <p:spPr>
          <a:xfrm>
            <a:off x="421705" y="821336"/>
            <a:ext cx="10972800" cy="6278642"/>
          </a:xfrm>
          <a:prstGeom prst="rect">
            <a:avLst/>
          </a:prstGeom>
          <a:noFill/>
        </p:spPr>
        <p:txBody>
          <a:bodyPr wrap="square" lIns="91440" tIns="45720" rIns="91440" bIns="45720" rtlCol="0" anchor="t">
            <a:spAutoFit/>
          </a:bodyPr>
          <a:lstStyle/>
          <a:p>
            <a:endParaRPr lang="en-IN" sz="1400" b="1">
              <a:ea typeface="Calibri"/>
              <a:cs typeface="Calibri"/>
            </a:endParaRPr>
          </a:p>
          <a:p>
            <a:endParaRPr lang="en-IN" sz="1400"/>
          </a:p>
          <a:p>
            <a:r>
              <a:rPr lang="en-IN" sz="1400" b="1"/>
              <a:t>What problem are we solving?</a:t>
            </a:r>
          </a:p>
          <a:p>
            <a:r>
              <a:rPr lang="en-IN" sz="1400">
                <a:ea typeface="Calibri"/>
                <a:cs typeface="Calibri"/>
              </a:rPr>
              <a:t>Almost all students in </a:t>
            </a:r>
            <a:r>
              <a:rPr lang="en-IN" sz="1400" err="1">
                <a:ea typeface="Calibri"/>
                <a:cs typeface="Calibri"/>
              </a:rPr>
              <a:t>india</a:t>
            </a:r>
            <a:r>
              <a:rPr lang="en-IN" sz="1400">
                <a:ea typeface="Calibri"/>
                <a:cs typeface="Calibri"/>
              </a:rPr>
              <a:t> </a:t>
            </a:r>
            <a:r>
              <a:rPr lang="en-IN" sz="1400" err="1">
                <a:ea typeface="Calibri"/>
                <a:cs typeface="Calibri"/>
              </a:rPr>
              <a:t>recieve</a:t>
            </a:r>
            <a:r>
              <a:rPr lang="en-IN" sz="1400">
                <a:ea typeface="Calibri"/>
                <a:cs typeface="Calibri"/>
              </a:rPr>
              <a:t> their material and announcements through </a:t>
            </a:r>
            <a:r>
              <a:rPr lang="en-IN" sz="1400" err="1">
                <a:ea typeface="Calibri"/>
                <a:cs typeface="Calibri"/>
              </a:rPr>
              <a:t>wahtsapp</a:t>
            </a:r>
            <a:r>
              <a:rPr lang="en-IN" sz="1400">
                <a:ea typeface="Calibri"/>
                <a:cs typeface="Calibri"/>
              </a:rPr>
              <a:t>.</a:t>
            </a:r>
            <a:endParaRPr lang="en-IN" sz="1400"/>
          </a:p>
          <a:p>
            <a:r>
              <a:rPr lang="en-US" sz="1400"/>
              <a:t>A student gets a PDF from a classmate on WhatsApp, screenshots notes from someone else's phone, gets a forwarded message about an assignment deadline, and downloads slides from their college portal. By end of </a:t>
            </a:r>
            <a:r>
              <a:rPr lang="en-US" sz="1400" err="1"/>
              <a:t>semester</a:t>
            </a:r>
            <a:r>
              <a:rPr lang="en-US" sz="1400"/>
              <a:t> they have 4 different folders, 3 different drives, notes in their gallery, and absolutely no idea where anything is.</a:t>
            </a:r>
          </a:p>
          <a:p>
            <a:r>
              <a:rPr lang="en-US" sz="1400"/>
              <a:t>Then exam week hits and they spend more time finding their notes than actually studying.</a:t>
            </a:r>
          </a:p>
          <a:p>
            <a:r>
              <a:rPr lang="en-US" sz="1400"/>
              <a:t>MACHA is a single place that a student can throw everything at in the most natural way possible, which is just forwarding it on WhatsApp, and it </a:t>
            </a:r>
            <a:r>
              <a:rPr lang="en-US" sz="1400" err="1"/>
              <a:t>organises</a:t>
            </a:r>
            <a:r>
              <a:rPr lang="en-US" sz="1400"/>
              <a:t> everything automatically and reminds them of deadlines they didn't even explicitly set.</a:t>
            </a:r>
          </a:p>
          <a:p>
            <a:endParaRPr lang="en-US" sz="1400">
              <a:ea typeface="Calibri"/>
              <a:cs typeface="Calibri"/>
            </a:endParaRPr>
          </a:p>
          <a:p>
            <a:r>
              <a:rPr lang="en-IN" sz="1400" b="1">
                <a:ea typeface="Calibri"/>
                <a:cs typeface="Calibri"/>
              </a:rPr>
              <a:t>Why this theme?</a:t>
            </a:r>
            <a:endParaRPr lang="en-US" sz="1400">
              <a:ea typeface="Calibri"/>
              <a:cs typeface="Calibri"/>
            </a:endParaRPr>
          </a:p>
          <a:p>
            <a:r>
              <a:rPr lang="en-US" sz="1400" b="1">
                <a:ea typeface="Calibri"/>
                <a:cs typeface="Calibri"/>
              </a:rPr>
              <a:t>Productivity</a:t>
            </a:r>
            <a:r>
              <a:rPr lang="en-US" sz="1400">
                <a:ea typeface="Calibri"/>
                <a:cs typeface="Calibri"/>
              </a:rPr>
              <a:t> because this is genuinely a productivity problem disguised as a storage problem. The issue was never "I don't have enough space for my notes." It was "I have notes everywhere and I can never find anything when I actually need it." MACHA fixes the retrieval problem, not just the storage problem.</a:t>
            </a:r>
            <a:endParaRPr lang="en-US"/>
          </a:p>
          <a:p>
            <a:endParaRPr lang="en-IN" sz="1400" b="1"/>
          </a:p>
          <a:p>
            <a:r>
              <a:rPr lang="en-IN" sz="1400" b="1"/>
              <a:t>Who Faces it?</a:t>
            </a:r>
          </a:p>
          <a:p>
            <a:r>
              <a:rPr lang="en-IN" sz="1400"/>
              <a:t>Any student.</a:t>
            </a:r>
          </a:p>
          <a:p>
            <a:endParaRPr lang="en-IN" sz="1400"/>
          </a:p>
          <a:p>
            <a:r>
              <a:rPr lang="en-IN" sz="1400" b="1"/>
              <a:t>Why is it important?</a:t>
            </a:r>
          </a:p>
          <a:p>
            <a:r>
              <a:rPr lang="en-US" sz="1400"/>
              <a:t>Because exam stress in Indian engineering colleges is real and a lot of it comes from chaos, not from the student not knowing the material. When you can't find your notes two days before an exam, you panic. When you miss a submission deadline because a professor sent the date in a long paragraph and it got buried under 200 other messages, your internal assessment marks drop and that affects your final grade.</a:t>
            </a:r>
          </a:p>
          <a:p>
            <a:r>
              <a:rPr lang="en-US" sz="1400"/>
              <a:t>MACHA doesn't make anyone smarter. It just removes the chaos so the student can actually focus on studying.</a:t>
            </a:r>
          </a:p>
          <a:p>
            <a:br>
              <a:rPr lang="en-US" sz="1400"/>
            </a:br>
            <a:r>
              <a:rPr lang="en-US" sz="1400"/>
              <a:t>Most AI study tools assume the student is already </a:t>
            </a:r>
            <a:r>
              <a:rPr lang="en-US" sz="1400" err="1"/>
              <a:t>organised</a:t>
            </a:r>
            <a:r>
              <a:rPr lang="en-US" sz="1400"/>
              <a:t>. They give you better search, better </a:t>
            </a:r>
            <a:r>
              <a:rPr lang="en-US" sz="1400" err="1"/>
              <a:t>summarisation</a:t>
            </a:r>
            <a:r>
              <a:rPr lang="en-US" sz="1400"/>
              <a:t>, better flashcards. MACHA assumes the student is completely </a:t>
            </a:r>
            <a:r>
              <a:rPr lang="en-US" sz="1400" err="1"/>
              <a:t>disorganised</a:t>
            </a:r>
            <a:r>
              <a:rPr lang="en-US" sz="1400"/>
              <a:t> and works backwards from there. That's the actual gap nobody is solving for.</a:t>
            </a:r>
          </a:p>
          <a:p>
            <a:endParaRPr lang="en-IN" sz="1200"/>
          </a:p>
          <a:p>
            <a:endParaRPr lang="en-IN" sz="1200"/>
          </a:p>
        </p:txBody>
      </p:sp>
    </p:spTree>
    <p:extLst>
      <p:ext uri="{BB962C8B-B14F-4D97-AF65-F5344CB8AC3E}">
        <p14:creationId xmlns:p14="http://schemas.microsoft.com/office/powerpoint/2010/main" val="145180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a:solidFill>
                  <a:schemeClr val="bg1"/>
                </a:solidFill>
              </a:rPr>
              <a:t>Idea</a:t>
            </a:r>
            <a:endParaRPr lang="en-US" sz="1000">
              <a:solidFill>
                <a:schemeClr val="bg1"/>
              </a:solidFill>
            </a:endParaRPr>
          </a:p>
        </p:txBody>
      </p:sp>
      <p:sp>
        <p:nvSpPr>
          <p:cNvPr id="5" name="Text 3"/>
          <p:cNvSpPr/>
          <p:nvPr/>
        </p:nvSpPr>
        <p:spPr>
          <a:xfrm>
            <a:off x="740496" y="600933"/>
            <a:ext cx="10972800" cy="853440"/>
          </a:xfrm>
          <a:prstGeom prst="rect">
            <a:avLst/>
          </a:prstGeom>
          <a:noFill/>
          <a:ln/>
        </p:spPr>
        <p:txBody>
          <a:bodyPr wrap="square" lIns="0" tIns="0" rIns="0" bIns="0" rtlCol="0" anchor="ctr"/>
          <a:lstStyle/>
          <a:p>
            <a:r>
              <a:rPr lang="en-US" sz="4267" b="1">
                <a:latin typeface="Calibri" pitchFamily="34" charset="0"/>
                <a:ea typeface="Calibri" pitchFamily="34" charset="-122"/>
                <a:cs typeface="Calibri" pitchFamily="34" charset="-120"/>
              </a:rPr>
              <a:t>Current Solution &amp; Gaps</a:t>
            </a:r>
            <a:endParaRPr lang="en-US" sz="4267"/>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732564"/>
            <a:ext cx="5570547" cy="4616648"/>
          </a:xfrm>
          <a:prstGeom prst="rect">
            <a:avLst/>
          </a:prstGeom>
          <a:noFill/>
        </p:spPr>
        <p:txBody>
          <a:bodyPr wrap="square" rtlCol="0">
            <a:spAutoFit/>
          </a:bodyPr>
          <a:lstStyle/>
          <a:p>
            <a:r>
              <a:rPr lang="en-US" sz="1400"/>
              <a:t>Existing tools like </a:t>
            </a:r>
            <a:r>
              <a:rPr lang="en-US" sz="1400">
                <a:hlinkClick r:id="rId3"/>
              </a:rPr>
              <a:t>Notion</a:t>
            </a:r>
            <a:r>
              <a:rPr lang="en-US" sz="1400"/>
              <a:t>, </a:t>
            </a:r>
            <a:r>
              <a:rPr lang="en-US" sz="1400">
                <a:hlinkClick r:id="rId4"/>
              </a:rPr>
              <a:t>Google Drive</a:t>
            </a:r>
            <a:r>
              <a:rPr lang="en-US" sz="1400"/>
              <a:t>, and college LMS platforms rely too much on students manually organizing notes, folders, and reminders. In reality, most academic communication happens informally through WhatsApp messages, forwarded notices, screenshots, and class announcements, making important deadlines easy to miss.</a:t>
            </a:r>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r>
              <a:rPr lang="en-US" sz="1400"/>
              <a:t>MACHA solves this by turning WhatsApp into an AI powered academic assistant. It automatically organizes study materials, extracts deadlines from messages, creates reminders, and helps students retrieve information instantly. Instead of asking students to change their habits, MACHA works within the platform they already use every day.</a:t>
            </a:r>
          </a:p>
          <a:p>
            <a:endParaRPr lang="en-IN" sz="1400"/>
          </a:p>
        </p:txBody>
      </p:sp>
      <p:sp>
        <p:nvSpPr>
          <p:cNvPr id="6" name="TextBox 5">
            <a:extLst>
              <a:ext uri="{FF2B5EF4-FFF2-40B4-BE49-F238E27FC236}">
                <a16:creationId xmlns:a16="http://schemas.microsoft.com/office/drawing/2014/main" id="{18554B65-FBD9-F24B-FD72-725AE3B07DE3}"/>
              </a:ext>
            </a:extLst>
          </p:cNvPr>
          <p:cNvSpPr txBox="1"/>
          <p:nvPr/>
        </p:nvSpPr>
        <p:spPr>
          <a:xfrm>
            <a:off x="5922519" y="3209576"/>
            <a:ext cx="5790777" cy="1384995"/>
          </a:xfrm>
          <a:prstGeom prst="rect">
            <a:avLst/>
          </a:prstGeom>
          <a:noFill/>
        </p:spPr>
        <p:txBody>
          <a:bodyPr wrap="square" rtlCol="0">
            <a:spAutoFit/>
          </a:bodyPr>
          <a:lstStyle/>
          <a:p>
            <a:r>
              <a:rPr lang="en-US" sz="1400"/>
              <a:t>Current reminder and productivity apps also fail because they require structured input. Students rarely stop to manually create tasks while reading long professor messages. Existing systems cannot understand context like “OS quiz tomorrow at 1:45 PM” and automatically act on it the way a human would.</a:t>
            </a:r>
          </a:p>
          <a:p>
            <a:endParaRPr lang="en-IN"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a:solidFill>
                  <a:schemeClr val="bg1"/>
                </a:solidFill>
              </a:rPr>
              <a:t>Idea</a:t>
            </a:r>
            <a:endParaRPr lang="en-US" sz="100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50" b="1">
                <a:latin typeface="Calibri"/>
                <a:ea typeface="Calibri"/>
                <a:cs typeface="Calibri"/>
              </a:rPr>
              <a:t>Our solution</a:t>
            </a:r>
            <a:endParaRPr lang="en-US" sz="4267"/>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972800" cy="4616648"/>
          </a:xfrm>
          <a:prstGeom prst="rect">
            <a:avLst/>
          </a:prstGeom>
          <a:noFill/>
        </p:spPr>
        <p:txBody>
          <a:bodyPr wrap="square" rtlCol="0">
            <a:spAutoFit/>
          </a:bodyPr>
          <a:lstStyle/>
          <a:p>
            <a:r>
              <a:rPr lang="en-US" sz="1400" b="1"/>
              <a:t>What We Built</a:t>
            </a:r>
          </a:p>
          <a:p>
            <a:r>
              <a:rPr lang="en-US" sz="1400"/>
              <a:t>MACHA is a WhatsApp AI assistant that automatically </a:t>
            </a:r>
            <a:r>
              <a:rPr lang="en-US" sz="1400" err="1"/>
              <a:t>organises</a:t>
            </a:r>
            <a:r>
              <a:rPr lang="en-US" sz="1400"/>
              <a:t> a student's notes and never lets them miss a deadline. You forward it stuff, it handles the rest.</a:t>
            </a:r>
          </a:p>
          <a:p>
            <a:br>
              <a:rPr lang="en-US" sz="1400"/>
            </a:br>
            <a:endParaRPr lang="en-US" sz="1400"/>
          </a:p>
          <a:p>
            <a:r>
              <a:rPr lang="en-US" sz="1400" b="1"/>
              <a:t>Core Ideas</a:t>
            </a:r>
          </a:p>
          <a:p>
            <a:r>
              <a:rPr lang="en-US" sz="1400"/>
              <a:t>One inbox for everything academic. No new app, no new habit. Just WhatsApp.</a:t>
            </a:r>
          </a:p>
          <a:p>
            <a:r>
              <a:rPr lang="en-US" sz="1400"/>
              <a:t>The agent reads everything, including messy professor forwards and blurry notice board photos, and figures out what to do without being explicitly told.</a:t>
            </a:r>
          </a:p>
          <a:p>
            <a:r>
              <a:rPr lang="en-US" sz="1400"/>
              <a:t>Files are stored and retrieved by subject and unit automatically. The student never thinks about folder structure.</a:t>
            </a:r>
          </a:p>
          <a:p>
            <a:br>
              <a:rPr lang="en-US" sz="1400"/>
            </a:br>
            <a:endParaRPr lang="en-US" sz="1400"/>
          </a:p>
          <a:p>
            <a:r>
              <a:rPr lang="en-US" sz="1400" b="1"/>
              <a:t>Key Features</a:t>
            </a:r>
          </a:p>
          <a:p>
            <a:r>
              <a:rPr lang="en-US" sz="1400" b="1"/>
              <a:t>Smart Storage</a:t>
            </a:r>
            <a:r>
              <a:rPr lang="en-US" sz="1400"/>
              <a:t> Forward any file, image, link, or message. MACHA classifies it by subject and unit on its own and saves it cleanly.</a:t>
            </a:r>
          </a:p>
          <a:p>
            <a:r>
              <a:rPr lang="en-US" sz="1400" b="1"/>
              <a:t>Automatic Deadline Detection</a:t>
            </a:r>
            <a:r>
              <a:rPr lang="en-US" sz="1400"/>
              <a:t> Reads every incoming message for hidden deadlines. No manual entry needed. If a professor buries a quiz date in a long paragraph, MACHA catches it.</a:t>
            </a:r>
          </a:p>
          <a:p>
            <a:r>
              <a:rPr lang="en-US" sz="1400" b="1"/>
              <a:t>Intelligent Reminders</a:t>
            </a:r>
            <a:r>
              <a:rPr lang="en-US" sz="1400"/>
              <a:t> 3 days out, 1 day out, 2 hours before. Automatically. Adjusts if the event gets postponed or cancelled.</a:t>
            </a:r>
          </a:p>
          <a:p>
            <a:r>
              <a:rPr lang="en-US" sz="1400" b="1"/>
              <a:t>Daily Morning Digest</a:t>
            </a:r>
            <a:r>
              <a:rPr lang="en-US" sz="1400"/>
              <a:t> Every day at 8AM, MACHA tells the student everything due in the next 5 days.</a:t>
            </a:r>
          </a:p>
          <a:p>
            <a:r>
              <a:rPr lang="en-US" sz="1400" b="1"/>
              <a:t>Instant Retrieval</a:t>
            </a:r>
            <a:r>
              <a:rPr lang="en-US" sz="1400"/>
              <a:t> Ask for your DBMS Unit 2 notes and you get them. No searching, no scrolling, no folder diving.</a:t>
            </a:r>
          </a:p>
          <a:p>
            <a:r>
              <a:rPr lang="en-US" sz="1400" b="1"/>
              <a:t>Semester Archiving</a:t>
            </a:r>
            <a:r>
              <a:rPr lang="en-US" sz="1400"/>
              <a:t> “End of </a:t>
            </a:r>
            <a:r>
              <a:rPr lang="en-US" sz="1400" err="1"/>
              <a:t>sem</a:t>
            </a:r>
            <a:r>
              <a:rPr lang="en-US" sz="1400"/>
              <a:t>”, one message, everything gets archived cleanly and a new session starts.</a:t>
            </a:r>
          </a:p>
          <a:p>
            <a:endParaRPr lang="en-IN" sz="1400"/>
          </a:p>
        </p:txBody>
      </p:sp>
    </p:spTree>
    <p:extLst>
      <p:ext uri="{BB962C8B-B14F-4D97-AF65-F5344CB8AC3E}">
        <p14:creationId xmlns:p14="http://schemas.microsoft.com/office/powerpoint/2010/main" val="100525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a:solidFill>
                  <a:schemeClr val="bg1"/>
                </a:solidFill>
              </a:rPr>
              <a:t>Idea</a:t>
            </a:r>
            <a:endParaRPr lang="en-US" sz="100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a:latin typeface="Calibri" pitchFamily="34" charset="0"/>
                <a:ea typeface="Calibri" pitchFamily="34" charset="-122"/>
                <a:cs typeface="Calibri" pitchFamily="34" charset="-120"/>
              </a:rPr>
              <a:t>Demo/Product Walkthrough</a:t>
            </a:r>
            <a:endParaRPr lang="en-US" sz="4267"/>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a:p>
        </p:txBody>
      </p:sp>
      <p:sp>
        <p:nvSpPr>
          <p:cNvPr id="9" name="TextBox 8">
            <a:extLst>
              <a:ext uri="{FF2B5EF4-FFF2-40B4-BE49-F238E27FC236}">
                <a16:creationId xmlns:a16="http://schemas.microsoft.com/office/drawing/2014/main" id="{04DB0243-BB37-4E48-8F2A-F31495290DC7}"/>
              </a:ext>
            </a:extLst>
          </p:cNvPr>
          <p:cNvSpPr txBox="1"/>
          <p:nvPr/>
        </p:nvSpPr>
        <p:spPr>
          <a:xfrm>
            <a:off x="167861" y="1393560"/>
            <a:ext cx="10678871" cy="1169551"/>
          </a:xfrm>
          <a:prstGeom prst="rect">
            <a:avLst/>
          </a:prstGeom>
          <a:noFill/>
        </p:spPr>
        <p:txBody>
          <a:bodyPr wrap="square" rtlCol="0">
            <a:spAutoFit/>
          </a:bodyPr>
          <a:lstStyle/>
          <a:p>
            <a:r>
              <a:rPr lang="en-IN" sz="1400" b="1"/>
              <a:t>Screen</a:t>
            </a:r>
          </a:p>
          <a:p>
            <a:r>
              <a:rPr lang="en-US" sz="1400"/>
              <a:t>There is only one screen. WhatsApp. That is the entire interface. No dashboard, no portal, no login page.</a:t>
            </a:r>
            <a:endParaRPr lang="en-IN" sz="1400"/>
          </a:p>
          <a:p>
            <a:endParaRPr lang="en-IN" sz="1400"/>
          </a:p>
          <a:p>
            <a:r>
              <a:rPr lang="en-IN" sz="1400" b="1"/>
              <a:t>Flow &amp; User Interaction</a:t>
            </a:r>
            <a:br>
              <a:rPr lang="en-IN" sz="1400"/>
            </a:br>
            <a:endParaRPr lang="en-IN" sz="1400"/>
          </a:p>
        </p:txBody>
      </p:sp>
      <p:pic>
        <p:nvPicPr>
          <p:cNvPr id="7" name="Picture 6">
            <a:extLst>
              <a:ext uri="{FF2B5EF4-FFF2-40B4-BE49-F238E27FC236}">
                <a16:creationId xmlns:a16="http://schemas.microsoft.com/office/drawing/2014/main" id="{003AB6BE-EE5C-CCEE-C510-8F448D668AD4}"/>
              </a:ext>
            </a:extLst>
          </p:cNvPr>
          <p:cNvPicPr>
            <a:picLocks noChangeAspect="1"/>
          </p:cNvPicPr>
          <p:nvPr/>
        </p:nvPicPr>
        <p:blipFill>
          <a:blip r:embed="rId3">
            <a:extLst>
              <a:ext uri="{28A0092B-C50C-407E-A947-70E740481C1C}">
                <a14:useLocalDpi xmlns:a14="http://schemas.microsoft.com/office/drawing/2010/main" val="0"/>
              </a:ext>
            </a:extLst>
          </a:blip>
          <a:srcRect b="50177"/>
          <a:stretch>
            <a:fillRect/>
          </a:stretch>
        </p:blipFill>
        <p:spPr>
          <a:xfrm>
            <a:off x="6271581" y="1981868"/>
            <a:ext cx="5766220" cy="4588564"/>
          </a:xfrm>
          <a:prstGeom prst="rect">
            <a:avLst/>
          </a:prstGeom>
        </p:spPr>
      </p:pic>
      <p:sp>
        <p:nvSpPr>
          <p:cNvPr id="8" name="TextBox 7">
            <a:extLst>
              <a:ext uri="{FF2B5EF4-FFF2-40B4-BE49-F238E27FC236}">
                <a16:creationId xmlns:a16="http://schemas.microsoft.com/office/drawing/2014/main" id="{B6560149-9461-7DE1-1502-53A80DA30651}"/>
              </a:ext>
            </a:extLst>
          </p:cNvPr>
          <p:cNvSpPr txBox="1"/>
          <p:nvPr/>
        </p:nvSpPr>
        <p:spPr>
          <a:xfrm>
            <a:off x="167861" y="2258043"/>
            <a:ext cx="5447653" cy="4616648"/>
          </a:xfrm>
          <a:prstGeom prst="rect">
            <a:avLst/>
          </a:prstGeom>
          <a:noFill/>
        </p:spPr>
        <p:txBody>
          <a:bodyPr wrap="square" rtlCol="0">
            <a:spAutoFit/>
          </a:bodyPr>
          <a:lstStyle/>
          <a:p>
            <a:r>
              <a:rPr lang="en-US" sz="1400" b="1"/>
              <a:t>First Time</a:t>
            </a:r>
            <a:endParaRPr lang="en-US" sz="1400"/>
          </a:p>
          <a:p>
            <a:r>
              <a:rPr lang="en-US" sz="1400"/>
              <a:t>Student messages MACHA for the first time. MACHA asks for their name, their syllabus, and their semester. Student forwards the syllabus PDF. MACHA reads it, lists out all detected subjects, confirms with the student, and sets everything up. Done in under 2 minutes.</a:t>
            </a:r>
          </a:p>
          <a:p>
            <a:r>
              <a:rPr lang="en-US" sz="1400" b="1"/>
              <a:t>Day to Day</a:t>
            </a:r>
            <a:endParaRPr lang="en-US" sz="1400"/>
          </a:p>
          <a:p>
            <a:r>
              <a:rPr lang="en-US" sz="1400"/>
              <a:t>Professor forwards a message in the college WhatsApp group. Student forwards it to MACHA. MACHA saves whatever file is in it, detects any deadline buried in the text, sets reminders and confirms back in one line.</a:t>
            </a:r>
          </a:p>
          <a:p>
            <a:r>
              <a:rPr lang="en-US" sz="1400"/>
              <a:t>Student forwards notes to MACHA. MACHA identifies the subject and topic, confirms the details, and automatically organizes and saves the resource. Student types "send me CN unit 3 notes." MACHA sends the file.</a:t>
            </a:r>
          </a:p>
          <a:p>
            <a:r>
              <a:rPr lang="en-US" sz="1400" b="1"/>
              <a:t>Reminder Moment</a:t>
            </a:r>
            <a:endParaRPr lang="en-US" sz="1400"/>
          </a:p>
          <a:p>
            <a:r>
              <a:rPr lang="en-US" sz="1400"/>
              <a:t>Student gets a WhatsApp message from MACHA at 8AM listing everything due that week. Later that day another message 2 hours before a submission deadline.</a:t>
            </a:r>
          </a:p>
          <a:p>
            <a:r>
              <a:rPr lang="en-US" sz="1400" b="1"/>
              <a:t>End of Semester</a:t>
            </a:r>
            <a:endParaRPr lang="en-US" sz="1400"/>
          </a:p>
          <a:p>
            <a:r>
              <a:rPr lang="en-US" sz="1400"/>
              <a:t>Student sends "</a:t>
            </a:r>
            <a:r>
              <a:rPr lang="en-US" sz="1400" err="1"/>
              <a:t>sem</a:t>
            </a:r>
            <a:r>
              <a:rPr lang="en-US" sz="1400"/>
              <a:t> over." MACHA asks for confirmation, archives everything, and immediately starts setup for the next semester.</a:t>
            </a:r>
          </a:p>
          <a:p>
            <a:endParaRPr lang="en-IN" sz="1400"/>
          </a:p>
        </p:txBody>
      </p:sp>
    </p:spTree>
    <p:extLst>
      <p:ext uri="{BB962C8B-B14F-4D97-AF65-F5344CB8AC3E}">
        <p14:creationId xmlns:p14="http://schemas.microsoft.com/office/powerpoint/2010/main" val="452960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A4762-CE0A-5DE4-9202-E89EFD0968E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BFDF4BD-96D8-A979-25D6-47D96752CEAD}"/>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A25DFA9B-BDC0-8C8E-672E-74D26D31D887}"/>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23F804A9-C535-EA52-5115-FB86CCD11D37}"/>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a:solidFill>
                  <a:schemeClr val="bg1"/>
                </a:solidFill>
              </a:rPr>
              <a:t>Idea</a:t>
            </a:r>
            <a:endParaRPr lang="en-US" sz="1000">
              <a:solidFill>
                <a:schemeClr val="bg1"/>
              </a:solidFill>
            </a:endParaRPr>
          </a:p>
        </p:txBody>
      </p:sp>
      <p:sp>
        <p:nvSpPr>
          <p:cNvPr id="5" name="Text 3">
            <a:extLst>
              <a:ext uri="{FF2B5EF4-FFF2-40B4-BE49-F238E27FC236}">
                <a16:creationId xmlns:a16="http://schemas.microsoft.com/office/drawing/2014/main" id="{F1691293-DA9A-7542-6330-DAB846BB1283}"/>
              </a:ext>
            </a:extLst>
          </p:cNvPr>
          <p:cNvSpPr/>
          <p:nvPr/>
        </p:nvSpPr>
        <p:spPr>
          <a:xfrm>
            <a:off x="609600" y="670560"/>
            <a:ext cx="10972800" cy="853440"/>
          </a:xfrm>
          <a:prstGeom prst="rect">
            <a:avLst/>
          </a:prstGeom>
          <a:noFill/>
          <a:ln/>
        </p:spPr>
        <p:txBody>
          <a:bodyPr wrap="square" lIns="0" tIns="0" rIns="0" bIns="0" rtlCol="0" anchor="ctr"/>
          <a:lstStyle/>
          <a:p>
            <a:r>
              <a:rPr lang="en-US" sz="4267" b="1">
                <a:latin typeface="Calibri" pitchFamily="34" charset="0"/>
                <a:ea typeface="Calibri" pitchFamily="34" charset="-122"/>
                <a:cs typeface="Calibri" pitchFamily="34" charset="-120"/>
              </a:rPr>
              <a:t>Demo/Product Walkthrough</a:t>
            </a:r>
            <a:endParaRPr lang="en-US" sz="4267"/>
          </a:p>
        </p:txBody>
      </p:sp>
      <p:sp>
        <p:nvSpPr>
          <p:cNvPr id="18" name="Text 1">
            <a:extLst>
              <a:ext uri="{FF2B5EF4-FFF2-40B4-BE49-F238E27FC236}">
                <a16:creationId xmlns:a16="http://schemas.microsoft.com/office/drawing/2014/main" id="{30C667FF-6D99-8FFE-FEFC-CC812C4FDE55}"/>
              </a:ext>
            </a:extLst>
          </p:cNvPr>
          <p:cNvSpPr/>
          <p:nvPr/>
        </p:nvSpPr>
        <p:spPr>
          <a:xfrm>
            <a:off x="5852160" y="1395928"/>
            <a:ext cx="5120640" cy="5486400"/>
          </a:xfrm>
          <a:prstGeom prst="rect">
            <a:avLst/>
          </a:prstGeom>
          <a:noFill/>
          <a:ln/>
        </p:spPr>
        <p:txBody>
          <a:bodyPr wrap="square" rtlCol="0" anchor="ctr"/>
          <a:lstStyle/>
          <a:p>
            <a:pPr algn="ctr"/>
            <a:endParaRPr lang="en-US" sz="26666"/>
          </a:p>
        </p:txBody>
      </p:sp>
      <p:sp>
        <p:nvSpPr>
          <p:cNvPr id="9" name="TextBox 8">
            <a:extLst>
              <a:ext uri="{FF2B5EF4-FFF2-40B4-BE49-F238E27FC236}">
                <a16:creationId xmlns:a16="http://schemas.microsoft.com/office/drawing/2014/main" id="{2B63B3E6-D3E3-FA4F-8351-3410F5B8D701}"/>
              </a:ext>
            </a:extLst>
          </p:cNvPr>
          <p:cNvSpPr txBox="1"/>
          <p:nvPr/>
        </p:nvSpPr>
        <p:spPr>
          <a:xfrm>
            <a:off x="609600" y="1633728"/>
            <a:ext cx="5570547" cy="3970318"/>
          </a:xfrm>
          <a:prstGeom prst="rect">
            <a:avLst/>
          </a:prstGeom>
          <a:noFill/>
        </p:spPr>
        <p:txBody>
          <a:bodyPr wrap="square" rtlCol="0">
            <a:spAutoFit/>
          </a:bodyPr>
          <a:lstStyle/>
          <a:p>
            <a:r>
              <a:rPr lang="en-IN" sz="1400" b="1"/>
              <a:t>Key Moments</a:t>
            </a:r>
          </a:p>
          <a:p>
            <a:endParaRPr lang="en-IN" sz="1400"/>
          </a:p>
          <a:p>
            <a:r>
              <a:rPr lang="en-US" sz="1400" b="1"/>
              <a:t>The Forward</a:t>
            </a:r>
            <a:r>
              <a:rPr lang="en-US" sz="1400"/>
              <a:t> Student forwards a messy professor message. MACHA pulls out a deadline they didn't even notice was in there and sets a reminder without being asked. This is the moment that makes the student trust MACHA.</a:t>
            </a:r>
          </a:p>
          <a:p>
            <a:endParaRPr lang="en-US" sz="1400"/>
          </a:p>
          <a:p>
            <a:r>
              <a:rPr lang="en-US" sz="1400" b="1"/>
              <a:t>The Retrieval</a:t>
            </a:r>
            <a:r>
              <a:rPr lang="en-US" sz="1400"/>
              <a:t> Night before exam, student asks for their notes. MACHA sends the right file in seconds. No scrolling through gallery, no digging through Drive.</a:t>
            </a:r>
          </a:p>
          <a:p>
            <a:endParaRPr lang="en-US" sz="1400"/>
          </a:p>
          <a:p>
            <a:r>
              <a:rPr lang="en-US" sz="1400" b="1"/>
              <a:t>The 8AM Digest</a:t>
            </a:r>
            <a:r>
              <a:rPr lang="en-US" sz="1400"/>
              <a:t> Student wakes up and already knows exactly what their week looks like academically. No surprises.</a:t>
            </a:r>
          </a:p>
          <a:p>
            <a:endParaRPr lang="en-US" sz="1400"/>
          </a:p>
          <a:p>
            <a:r>
              <a:rPr lang="en-US" sz="1400" b="1"/>
              <a:t>The Miss Prevention</a:t>
            </a:r>
            <a:r>
              <a:rPr lang="en-US" sz="1400"/>
              <a:t> MACHA catches a rescheduled exam in a forwarded notice and updates the reminder automatically. Student never even knew the date changed.</a:t>
            </a:r>
          </a:p>
          <a:p>
            <a:endParaRPr lang="en-IN" sz="1400"/>
          </a:p>
        </p:txBody>
      </p:sp>
      <p:pic>
        <p:nvPicPr>
          <p:cNvPr id="7" name="Picture 6">
            <a:extLst>
              <a:ext uri="{FF2B5EF4-FFF2-40B4-BE49-F238E27FC236}">
                <a16:creationId xmlns:a16="http://schemas.microsoft.com/office/drawing/2014/main" id="{F404986F-8CE7-28B1-310E-883AE5B14D07}"/>
              </a:ext>
            </a:extLst>
          </p:cNvPr>
          <p:cNvPicPr>
            <a:picLocks noChangeAspect="1"/>
          </p:cNvPicPr>
          <p:nvPr/>
        </p:nvPicPr>
        <p:blipFill>
          <a:blip r:embed="rId3">
            <a:extLst>
              <a:ext uri="{28A0092B-C50C-407E-A947-70E740481C1C}">
                <a14:useLocalDpi xmlns:a14="http://schemas.microsoft.com/office/drawing/2010/main" val="0"/>
              </a:ext>
            </a:extLst>
          </a:blip>
          <a:srcRect l="657" t="50000" r="7589" b="20355"/>
          <a:stretch>
            <a:fillRect/>
          </a:stretch>
        </p:blipFill>
        <p:spPr>
          <a:xfrm>
            <a:off x="6285727" y="1708513"/>
            <a:ext cx="5896001" cy="4461270"/>
          </a:xfrm>
          <a:prstGeom prst="rect">
            <a:avLst/>
          </a:prstGeom>
        </p:spPr>
      </p:pic>
    </p:spTree>
    <p:extLst>
      <p:ext uri="{BB962C8B-B14F-4D97-AF65-F5344CB8AC3E}">
        <p14:creationId xmlns:p14="http://schemas.microsoft.com/office/powerpoint/2010/main" val="1726104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a:solidFill>
                  <a:schemeClr val="bg1"/>
                </a:solidFill>
              </a:rPr>
              <a:t>Idea</a:t>
            </a:r>
            <a:endParaRPr lang="en-US" sz="1000">
              <a:solidFill>
                <a:schemeClr val="bg1"/>
              </a:solidFill>
            </a:endParaRPr>
          </a:p>
        </p:txBody>
      </p:sp>
      <p:sp>
        <p:nvSpPr>
          <p:cNvPr id="5" name="Text 3"/>
          <p:cNvSpPr/>
          <p:nvPr/>
        </p:nvSpPr>
        <p:spPr>
          <a:xfrm>
            <a:off x="3359426" y="-36223"/>
            <a:ext cx="10972800" cy="853440"/>
          </a:xfrm>
          <a:prstGeom prst="rect">
            <a:avLst/>
          </a:prstGeom>
          <a:noFill/>
          <a:ln/>
        </p:spPr>
        <p:txBody>
          <a:bodyPr wrap="square" lIns="0" tIns="0" rIns="0" bIns="0" rtlCol="0" anchor="ctr"/>
          <a:lstStyle/>
          <a:p>
            <a:r>
              <a:rPr lang="en-US" sz="4267" b="1">
                <a:latin typeface="Calibri" pitchFamily="34" charset="0"/>
                <a:ea typeface="Calibri" pitchFamily="34" charset="-122"/>
                <a:cs typeface="Calibri" pitchFamily="34" charset="-120"/>
              </a:rPr>
              <a:t>Tech &amp; Architecture</a:t>
            </a:r>
            <a:endParaRPr lang="en-US" sz="4267"/>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a:p>
        </p:txBody>
      </p:sp>
      <p:pic>
        <p:nvPicPr>
          <p:cNvPr id="12" name="Picture 11" descr="A diagram of a computer program&#10;&#10;AI-generated content may be incorrect.">
            <a:extLst>
              <a:ext uri="{FF2B5EF4-FFF2-40B4-BE49-F238E27FC236}">
                <a16:creationId xmlns:a16="http://schemas.microsoft.com/office/drawing/2014/main" id="{BD28D1BC-F8E2-86E5-7448-83C6F3C8247F}"/>
              </a:ext>
            </a:extLst>
          </p:cNvPr>
          <p:cNvPicPr>
            <a:picLocks noChangeAspect="1"/>
          </p:cNvPicPr>
          <p:nvPr/>
        </p:nvPicPr>
        <p:blipFill>
          <a:blip r:embed="rId3"/>
          <a:stretch>
            <a:fillRect/>
          </a:stretch>
        </p:blipFill>
        <p:spPr>
          <a:xfrm>
            <a:off x="190500" y="817217"/>
            <a:ext cx="11314044" cy="6084957"/>
          </a:xfrm>
          <a:prstGeom prst="rect">
            <a:avLst/>
          </a:prstGeom>
        </p:spPr>
      </p:pic>
    </p:spTree>
    <p:extLst>
      <p:ext uri="{BB962C8B-B14F-4D97-AF65-F5344CB8AC3E}">
        <p14:creationId xmlns:p14="http://schemas.microsoft.com/office/powerpoint/2010/main" val="56678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EEE65-2415-6FE5-E3DA-750427AE156D}"/>
              </a:ext>
            </a:extLst>
          </p:cNvPr>
          <p:cNvSpPr>
            <a:spLocks noGrp="1"/>
          </p:cNvSpPr>
          <p:nvPr>
            <p:ph type="ctrTitle"/>
          </p:nvPr>
        </p:nvSpPr>
        <p:spPr>
          <a:xfrm>
            <a:off x="1626973" y="-1647609"/>
            <a:ext cx="9144000" cy="2387600"/>
          </a:xfrm>
        </p:spPr>
        <p:txBody>
          <a:bodyPr/>
          <a:lstStyle/>
          <a:p>
            <a:r>
              <a:rPr lang="en-US" b="1" i="1" u="sng">
                <a:solidFill>
                  <a:schemeClr val="tx1">
                    <a:lumMod val="65000"/>
                    <a:lumOff val="35000"/>
                  </a:schemeClr>
                </a:solidFill>
                <a:ea typeface="Calibri Light"/>
                <a:cs typeface="Calibri Light"/>
              </a:rPr>
              <a:t>WHY DID WE CHOOSE THIS APPROACH?</a:t>
            </a:r>
            <a:endParaRPr lang="en-US" b="1" u="sng">
              <a:solidFill>
                <a:schemeClr val="tx1">
                  <a:lumMod val="65000"/>
                  <a:lumOff val="35000"/>
                </a:schemeClr>
              </a:solidFill>
              <a:ea typeface="Calibri Light" panose="020F0302020204030204"/>
              <a:cs typeface="Calibri Light" panose="020F0302020204030204"/>
            </a:endParaRPr>
          </a:p>
        </p:txBody>
      </p:sp>
      <p:sp>
        <p:nvSpPr>
          <p:cNvPr id="3" name="Subtitle 2">
            <a:extLst>
              <a:ext uri="{FF2B5EF4-FFF2-40B4-BE49-F238E27FC236}">
                <a16:creationId xmlns:a16="http://schemas.microsoft.com/office/drawing/2014/main" id="{5919563B-2459-8DB9-0B43-0AC6D1A1DA5C}"/>
              </a:ext>
            </a:extLst>
          </p:cNvPr>
          <p:cNvSpPr>
            <a:spLocks noGrp="1"/>
          </p:cNvSpPr>
          <p:nvPr>
            <p:ph type="subTitle" idx="1"/>
          </p:nvPr>
        </p:nvSpPr>
        <p:spPr/>
        <p:txBody>
          <a:bodyPr/>
          <a:lstStyle/>
          <a:p>
            <a:endParaRPr lang="en-US"/>
          </a:p>
        </p:txBody>
      </p:sp>
      <p:pic>
        <p:nvPicPr>
          <p:cNvPr id="5" name="Picture 4" descr="A screenshot of a computer screen&#10;&#10;AI-generated content may be incorrect.">
            <a:extLst>
              <a:ext uri="{FF2B5EF4-FFF2-40B4-BE49-F238E27FC236}">
                <a16:creationId xmlns:a16="http://schemas.microsoft.com/office/drawing/2014/main" id="{9473C127-DB69-BF83-C74B-49ABA4A5F1EE}"/>
              </a:ext>
            </a:extLst>
          </p:cNvPr>
          <p:cNvPicPr>
            <a:picLocks noChangeAspect="1"/>
          </p:cNvPicPr>
          <p:nvPr/>
        </p:nvPicPr>
        <p:blipFill>
          <a:blip r:embed="rId2"/>
          <a:stretch>
            <a:fillRect/>
          </a:stretch>
        </p:blipFill>
        <p:spPr>
          <a:xfrm>
            <a:off x="968976" y="926757"/>
            <a:ext cx="9790670" cy="5920946"/>
          </a:xfrm>
          <a:prstGeom prst="rect">
            <a:avLst/>
          </a:prstGeom>
        </p:spPr>
      </p:pic>
    </p:spTree>
    <p:extLst>
      <p:ext uri="{BB962C8B-B14F-4D97-AF65-F5344CB8AC3E}">
        <p14:creationId xmlns:p14="http://schemas.microsoft.com/office/powerpoint/2010/main" val="630324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223AC-9F48-FB80-7508-8D680AA7394C}"/>
              </a:ext>
            </a:extLst>
          </p:cNvPr>
          <p:cNvSpPr>
            <a:spLocks noGrp="1"/>
          </p:cNvSpPr>
          <p:nvPr>
            <p:ph type="ctrTitle"/>
          </p:nvPr>
        </p:nvSpPr>
        <p:spPr>
          <a:xfrm>
            <a:off x="926757" y="-1606421"/>
            <a:ext cx="9144000" cy="2387600"/>
          </a:xfrm>
        </p:spPr>
        <p:txBody>
          <a:bodyPr/>
          <a:lstStyle/>
          <a:p>
            <a:r>
              <a:rPr lang="en-US" b="1" i="1" u="sng">
                <a:solidFill>
                  <a:schemeClr val="tx1">
                    <a:lumMod val="65000"/>
                    <a:lumOff val="35000"/>
                  </a:schemeClr>
                </a:solidFill>
                <a:ea typeface="Calibri Light"/>
                <a:cs typeface="Calibri Light"/>
              </a:rPr>
              <a:t>Data Storage Design</a:t>
            </a:r>
            <a:endParaRPr lang="en-US" b="1" dirty="0">
              <a:solidFill>
                <a:schemeClr val="tx1">
                  <a:lumMod val="65000"/>
                  <a:lumOff val="35000"/>
                </a:schemeClr>
              </a:solidFill>
              <a:ea typeface="Calibri Light"/>
              <a:cs typeface="Calibri Light"/>
            </a:endParaRPr>
          </a:p>
        </p:txBody>
      </p:sp>
      <p:sp>
        <p:nvSpPr>
          <p:cNvPr id="3" name="Subtitle 2">
            <a:extLst>
              <a:ext uri="{FF2B5EF4-FFF2-40B4-BE49-F238E27FC236}">
                <a16:creationId xmlns:a16="http://schemas.microsoft.com/office/drawing/2014/main" id="{56BD4C7F-F67D-7C7F-196F-4D6749F502A5}"/>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3A2286F5-2918-C016-2909-00D09B4E5316}"/>
              </a:ext>
            </a:extLst>
          </p:cNvPr>
          <p:cNvPicPr>
            <a:picLocks noChangeAspect="1"/>
          </p:cNvPicPr>
          <p:nvPr/>
        </p:nvPicPr>
        <p:blipFill>
          <a:blip r:embed="rId2"/>
          <a:stretch>
            <a:fillRect/>
          </a:stretch>
        </p:blipFill>
        <p:spPr>
          <a:xfrm>
            <a:off x="111308" y="782594"/>
            <a:ext cx="11903673" cy="6075405"/>
          </a:xfrm>
          <a:prstGeom prst="rect">
            <a:avLst/>
          </a:prstGeom>
        </p:spPr>
      </p:pic>
    </p:spTree>
    <p:extLst>
      <p:ext uri="{BB962C8B-B14F-4D97-AF65-F5344CB8AC3E}">
        <p14:creationId xmlns:p14="http://schemas.microsoft.com/office/powerpoint/2010/main" val="2771152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76190-D16F-A8E9-78C7-6057399DF113}"/>
              </a:ext>
            </a:extLst>
          </p:cNvPr>
          <p:cNvSpPr>
            <a:spLocks noGrp="1"/>
          </p:cNvSpPr>
          <p:nvPr>
            <p:ph type="title"/>
          </p:nvPr>
        </p:nvSpPr>
        <p:spPr>
          <a:xfrm>
            <a:off x="621957" y="138584"/>
            <a:ext cx="10515600" cy="1325563"/>
          </a:xfrm>
        </p:spPr>
        <p:txBody>
          <a:bodyPr>
            <a:normAutofit/>
          </a:bodyPr>
          <a:lstStyle/>
          <a:p>
            <a:r>
              <a:rPr lang="en-US" sz="4000" b="1" i="1" u="sng">
                <a:solidFill>
                  <a:schemeClr val="tx1">
                    <a:lumMod val="65000"/>
                    <a:lumOff val="35000"/>
                  </a:schemeClr>
                </a:solidFill>
                <a:ea typeface="Calibri Light"/>
                <a:cs typeface="Calibri Light"/>
              </a:rPr>
              <a:t>Entity-Relationship Diagram for MySQL Database</a:t>
            </a:r>
            <a:endParaRPr lang="en-US" sz="4000" u="sng">
              <a:solidFill>
                <a:schemeClr val="tx1">
                  <a:lumMod val="65000"/>
                  <a:lumOff val="35000"/>
                </a:schemeClr>
              </a:solidFill>
              <a:ea typeface="Calibri Light" panose="020F0302020204030204"/>
              <a:cs typeface="Calibri Light" panose="020F0302020204030204"/>
            </a:endParaRPr>
          </a:p>
        </p:txBody>
      </p:sp>
      <p:pic>
        <p:nvPicPr>
          <p:cNvPr id="4" name="Content Placeholder 3" descr="A diagram of a work flow&#10;&#10;AI-generated content may be incorrect.">
            <a:extLst>
              <a:ext uri="{FF2B5EF4-FFF2-40B4-BE49-F238E27FC236}">
                <a16:creationId xmlns:a16="http://schemas.microsoft.com/office/drawing/2014/main" id="{5581FEF2-D2E2-1D20-B735-2046A3E93A75}"/>
              </a:ext>
            </a:extLst>
          </p:cNvPr>
          <p:cNvPicPr>
            <a:picLocks noGrp="1" noChangeAspect="1"/>
          </p:cNvPicPr>
          <p:nvPr>
            <p:ph idx="1"/>
          </p:nvPr>
        </p:nvPicPr>
        <p:blipFill>
          <a:blip r:embed="rId2"/>
          <a:stretch>
            <a:fillRect/>
          </a:stretch>
        </p:blipFill>
        <p:spPr>
          <a:xfrm>
            <a:off x="624744" y="1331354"/>
            <a:ext cx="10633592" cy="5504635"/>
          </a:xfrm>
          <a:prstGeom prst="rect">
            <a:avLst/>
          </a:prstGeom>
        </p:spPr>
      </p:pic>
    </p:spTree>
    <p:extLst>
      <p:ext uri="{BB962C8B-B14F-4D97-AF65-F5344CB8AC3E}">
        <p14:creationId xmlns:p14="http://schemas.microsoft.com/office/powerpoint/2010/main" val="2907029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A black and white text on a black background&#10;&#10;AI-generated content may be incorrect.">
            <a:extLst>
              <a:ext uri="{FF2B5EF4-FFF2-40B4-BE49-F238E27FC236}">
                <a16:creationId xmlns:a16="http://schemas.microsoft.com/office/drawing/2014/main" id="{BAECA8BD-38C3-9701-A07D-F5891FBF47BB}"/>
              </a:ext>
            </a:extLst>
          </p:cNvPr>
          <p:cNvPicPr>
            <a:picLocks noGrp="1" noChangeAspect="1"/>
          </p:cNvPicPr>
          <p:nvPr>
            <p:ph idx="1"/>
          </p:nvPr>
        </p:nvPicPr>
        <p:blipFill>
          <a:blip r:embed="rId2"/>
          <a:stretch>
            <a:fillRect/>
          </a:stretch>
        </p:blipFill>
        <p:spPr>
          <a:xfrm>
            <a:off x="-1105" y="463033"/>
            <a:ext cx="12197724" cy="5943058"/>
          </a:xfrm>
          <a:prstGeom prst="rect">
            <a:avLst/>
          </a:prstGeom>
        </p:spPr>
      </p:pic>
    </p:spTree>
    <p:extLst>
      <p:ext uri="{BB962C8B-B14F-4D97-AF65-F5344CB8AC3E}">
        <p14:creationId xmlns:p14="http://schemas.microsoft.com/office/powerpoint/2010/main" val="59939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801FD4-C7F7-5B0D-3081-51CB705F0BED}"/>
              </a:ext>
            </a:extLst>
          </p:cNvPr>
          <p:cNvSpPr>
            <a:spLocks noGrp="1"/>
          </p:cNvSpPr>
          <p:nvPr>
            <p:ph idx="1"/>
          </p:nvPr>
        </p:nvSpPr>
        <p:spPr>
          <a:xfrm>
            <a:off x="838200" y="1825625"/>
            <a:ext cx="10515600" cy="4528033"/>
          </a:xfrm>
        </p:spPr>
        <p:txBody>
          <a:bodyPr vert="horz" lIns="91440" tIns="45720" rIns="91440" bIns="45720" rtlCol="0" anchor="t">
            <a:normAutofit/>
          </a:bodyPr>
          <a:lstStyle/>
          <a:p>
            <a:endParaRPr lang="en-US" dirty="0">
              <a:ea typeface="Calibri"/>
              <a:cs typeface="Calibri"/>
            </a:endParaRPr>
          </a:p>
          <a:p>
            <a:endParaRPr lang="en-US">
              <a:ea typeface="Calibri"/>
              <a:cs typeface="Calibri"/>
            </a:endParaRPr>
          </a:p>
          <a:p>
            <a:endParaRPr lang="en-US"/>
          </a:p>
        </p:txBody>
      </p:sp>
      <p:pic>
        <p:nvPicPr>
          <p:cNvPr id="13" name="Picture 12" descr="A diagram of a software development process&#10;&#10;AI-generated content may be incorrect.">
            <a:extLst>
              <a:ext uri="{FF2B5EF4-FFF2-40B4-BE49-F238E27FC236}">
                <a16:creationId xmlns:a16="http://schemas.microsoft.com/office/drawing/2014/main" id="{AAE18591-E2AE-C3DD-DABE-8896A39EE6AF}"/>
              </a:ext>
            </a:extLst>
          </p:cNvPr>
          <p:cNvPicPr>
            <a:picLocks noChangeAspect="1"/>
          </p:cNvPicPr>
          <p:nvPr/>
        </p:nvPicPr>
        <p:blipFill>
          <a:blip r:embed="rId2"/>
          <a:stretch>
            <a:fillRect/>
          </a:stretch>
        </p:blipFill>
        <p:spPr>
          <a:xfrm>
            <a:off x="-3023" y="0"/>
            <a:ext cx="12185950" cy="6858000"/>
          </a:xfrm>
          <a:prstGeom prst="rect">
            <a:avLst/>
          </a:prstGeom>
        </p:spPr>
      </p:pic>
    </p:spTree>
    <p:extLst>
      <p:ext uri="{BB962C8B-B14F-4D97-AF65-F5344CB8AC3E}">
        <p14:creationId xmlns:p14="http://schemas.microsoft.com/office/powerpoint/2010/main" val="2690803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63D0-78F7-9F3E-0B6A-5951A84006E4}"/>
              </a:ext>
            </a:extLst>
          </p:cNvPr>
          <p:cNvSpPr>
            <a:spLocks noGrp="1"/>
          </p:cNvSpPr>
          <p:nvPr>
            <p:ph type="title"/>
          </p:nvPr>
        </p:nvSpPr>
        <p:spPr>
          <a:xfrm>
            <a:off x="4119" y="-252713"/>
            <a:ext cx="10515600" cy="1325563"/>
          </a:xfrm>
        </p:spPr>
        <p:txBody>
          <a:bodyPr/>
          <a:lstStyle/>
          <a:p>
            <a:r>
              <a:rPr lang="en-US" sz="3600" b="1" i="1" u="sng">
                <a:solidFill>
                  <a:schemeClr val="bg2">
                    <a:lumMod val="49000"/>
                    <a:lumOff val="51000"/>
                  </a:schemeClr>
                </a:solidFill>
                <a:ea typeface="Calibri Light"/>
                <a:cs typeface="Calibri Light"/>
              </a:rPr>
              <a:t>API endpoint list</a:t>
            </a:r>
            <a:r>
              <a:rPr lang="en-US" sz="3600" dirty="0">
                <a:solidFill>
                  <a:schemeClr val="bg2">
                    <a:lumMod val="49000"/>
                    <a:lumOff val="51000"/>
                  </a:schemeClr>
                </a:solidFill>
                <a:ea typeface="Calibri Light"/>
                <a:cs typeface="Calibri Light"/>
              </a:rPr>
              <a:t> </a:t>
            </a:r>
            <a:endParaRPr lang="en-US" sz="3600">
              <a:solidFill>
                <a:schemeClr val="bg2">
                  <a:lumMod val="49000"/>
                  <a:lumOff val="51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340F73A2-1F30-FC96-9370-02C7D62DF475}"/>
              </a:ext>
            </a:extLst>
          </p:cNvPr>
          <p:cNvSpPr>
            <a:spLocks noGrp="1"/>
          </p:cNvSpPr>
          <p:nvPr>
            <p:ph sz="half" idx="1"/>
          </p:nvPr>
        </p:nvSpPr>
        <p:spPr>
          <a:xfrm>
            <a:off x="220362" y="1084221"/>
            <a:ext cx="7323436" cy="5772363"/>
          </a:xfrm>
        </p:spPr>
        <p:txBody>
          <a:bodyPr vert="horz" lIns="91440" tIns="45720" rIns="91440" bIns="45720" rtlCol="0" anchor="t">
            <a:noAutofit/>
          </a:bodyPr>
          <a:lstStyle/>
          <a:p>
            <a:pPr marL="0" indent="0">
              <a:buNone/>
            </a:pPr>
            <a:r>
              <a:rPr lang="en-US" sz="1400" b="1" i="1" u="sng">
                <a:ea typeface="+mn-lt"/>
                <a:cs typeface="+mn-lt"/>
              </a:rPr>
              <a:t>Setup</a:t>
            </a:r>
            <a:endParaRPr lang="en-US" sz="1400" u="sng">
              <a:ea typeface="Calibri" panose="020F0502020204030204"/>
              <a:cs typeface="Calibri" panose="020F0502020204030204"/>
            </a:endParaRPr>
          </a:p>
          <a:p>
            <a:r>
              <a:rPr lang="en-US" sz="1400" dirty="0">
                <a:ea typeface="+mn-lt"/>
                <a:cs typeface="+mn-lt"/>
              </a:rPr>
              <a:t>- POST   /</a:t>
            </a:r>
            <a:r>
              <a:rPr lang="en-US" sz="1400" err="1">
                <a:ea typeface="+mn-lt"/>
                <a:cs typeface="+mn-lt"/>
              </a:rPr>
              <a:t>api</a:t>
            </a:r>
            <a:r>
              <a:rPr lang="en-US" sz="1400" dirty="0">
                <a:ea typeface="+mn-lt"/>
                <a:cs typeface="+mn-lt"/>
              </a:rPr>
              <a:t>/v1/setup/semester      </a:t>
            </a:r>
            <a:endParaRPr lang="en-US" sz="1400" dirty="0">
              <a:ea typeface="Calibri"/>
              <a:cs typeface="Calibri"/>
            </a:endParaRPr>
          </a:p>
          <a:p>
            <a:r>
              <a:rPr lang="en-US" sz="1400" dirty="0">
                <a:ea typeface="+mn-lt"/>
                <a:cs typeface="+mn-lt"/>
              </a:rPr>
              <a:t>- POST   /</a:t>
            </a:r>
            <a:r>
              <a:rPr lang="en-US" sz="1400" err="1">
                <a:ea typeface="+mn-lt"/>
                <a:cs typeface="+mn-lt"/>
              </a:rPr>
              <a:t>api</a:t>
            </a:r>
            <a:r>
              <a:rPr lang="en-US" sz="1400" dirty="0">
                <a:ea typeface="+mn-lt"/>
                <a:cs typeface="+mn-lt"/>
              </a:rPr>
              <a:t>/v1/subjects</a:t>
            </a:r>
            <a:endParaRPr lang="en-US" sz="1400" dirty="0">
              <a:ea typeface="Calibri"/>
              <a:cs typeface="Calibri"/>
            </a:endParaRPr>
          </a:p>
          <a:p>
            <a:r>
              <a:rPr lang="en-US" sz="1400" dirty="0">
                <a:ea typeface="+mn-lt"/>
                <a:cs typeface="+mn-lt"/>
              </a:rPr>
              <a:t>- PATCH  /</a:t>
            </a:r>
            <a:r>
              <a:rPr lang="en-US" sz="1400" err="1">
                <a:ea typeface="+mn-lt"/>
                <a:cs typeface="+mn-lt"/>
              </a:rPr>
              <a:t>api</a:t>
            </a:r>
            <a:r>
              <a:rPr lang="en-US" sz="1400" dirty="0">
                <a:ea typeface="+mn-lt"/>
                <a:cs typeface="+mn-lt"/>
              </a:rPr>
              <a:t>/v1/subjects/archive</a:t>
            </a:r>
            <a:endParaRPr lang="en-US" sz="1400" dirty="0">
              <a:ea typeface="Calibri"/>
              <a:cs typeface="Calibri"/>
            </a:endParaRPr>
          </a:p>
          <a:p>
            <a:endParaRPr lang="en-US" sz="1400" dirty="0">
              <a:ea typeface="Calibri"/>
              <a:cs typeface="Calibri"/>
            </a:endParaRPr>
          </a:p>
          <a:p>
            <a:pPr marL="0" indent="0">
              <a:buNone/>
            </a:pPr>
            <a:r>
              <a:rPr lang="en-US" sz="1400" b="1" i="1" u="sng">
                <a:ea typeface="+mn-lt"/>
                <a:cs typeface="+mn-lt"/>
              </a:rPr>
              <a:t>Academic Resources</a:t>
            </a:r>
            <a:endParaRPr lang="en-US" sz="1400" dirty="0">
              <a:ea typeface="Calibri"/>
              <a:cs typeface="Calibri"/>
            </a:endParaRPr>
          </a:p>
          <a:p>
            <a:r>
              <a:rPr lang="en-US" sz="1400" dirty="0">
                <a:ea typeface="+mn-lt"/>
                <a:cs typeface="+mn-lt"/>
              </a:rPr>
              <a:t>- GET    /</a:t>
            </a:r>
            <a:r>
              <a:rPr lang="en-US" sz="1400" err="1">
                <a:ea typeface="+mn-lt"/>
                <a:cs typeface="+mn-lt"/>
              </a:rPr>
              <a:t>api</a:t>
            </a:r>
            <a:r>
              <a:rPr lang="en-US" sz="1400" dirty="0">
                <a:ea typeface="+mn-lt"/>
                <a:cs typeface="+mn-lt"/>
              </a:rPr>
              <a:t>/v1/subjects</a:t>
            </a:r>
            <a:endParaRPr lang="en-US" sz="1400" dirty="0">
              <a:ea typeface="Calibri"/>
              <a:cs typeface="Calibri"/>
            </a:endParaRPr>
          </a:p>
          <a:p>
            <a:r>
              <a:rPr lang="en-US" sz="1400" dirty="0">
                <a:ea typeface="+mn-lt"/>
                <a:cs typeface="+mn-lt"/>
              </a:rPr>
              <a:t>- GET    /</a:t>
            </a:r>
            <a:r>
              <a:rPr lang="en-US" sz="1400" err="1">
                <a:ea typeface="+mn-lt"/>
                <a:cs typeface="+mn-lt"/>
              </a:rPr>
              <a:t>api</a:t>
            </a:r>
            <a:r>
              <a:rPr lang="en-US" sz="1400" dirty="0">
                <a:ea typeface="+mn-lt"/>
                <a:cs typeface="+mn-lt"/>
              </a:rPr>
              <a:t>/v1/subjects/:id/resource-types</a:t>
            </a:r>
            <a:endParaRPr lang="en-US" sz="1400" dirty="0">
              <a:ea typeface="Calibri"/>
              <a:cs typeface="Calibri"/>
            </a:endParaRPr>
          </a:p>
          <a:p>
            <a:r>
              <a:rPr lang="en-US" sz="1400" dirty="0">
                <a:ea typeface="+mn-lt"/>
                <a:cs typeface="+mn-lt"/>
              </a:rPr>
              <a:t>- GET    /</a:t>
            </a:r>
            <a:r>
              <a:rPr lang="en-US" sz="1400" err="1">
                <a:ea typeface="+mn-lt"/>
                <a:cs typeface="+mn-lt"/>
              </a:rPr>
              <a:t>api</a:t>
            </a:r>
            <a:r>
              <a:rPr lang="en-US" sz="1400" dirty="0">
                <a:ea typeface="+mn-lt"/>
                <a:cs typeface="+mn-lt"/>
              </a:rPr>
              <a:t>/v1/subjects/:id/resources</a:t>
            </a:r>
            <a:endParaRPr lang="en-US" sz="1400" dirty="0">
              <a:ea typeface="Calibri"/>
              <a:cs typeface="Calibri"/>
            </a:endParaRPr>
          </a:p>
          <a:p>
            <a:r>
              <a:rPr lang="en-US" sz="1400" dirty="0">
                <a:ea typeface="+mn-lt"/>
                <a:cs typeface="+mn-lt"/>
              </a:rPr>
              <a:t>- POST   /</a:t>
            </a:r>
            <a:r>
              <a:rPr lang="en-US" sz="1400" err="1">
                <a:ea typeface="+mn-lt"/>
                <a:cs typeface="+mn-lt"/>
              </a:rPr>
              <a:t>api</a:t>
            </a:r>
            <a:r>
              <a:rPr lang="en-US" sz="1400" dirty="0">
                <a:ea typeface="+mn-lt"/>
                <a:cs typeface="+mn-lt"/>
              </a:rPr>
              <a:t>/v1/resources</a:t>
            </a:r>
            <a:endParaRPr lang="en-US" sz="1400" dirty="0">
              <a:ea typeface="Calibri"/>
              <a:cs typeface="Calibri"/>
            </a:endParaRPr>
          </a:p>
          <a:p>
            <a:r>
              <a:rPr lang="en-US" sz="1400" dirty="0">
                <a:ea typeface="+mn-lt"/>
                <a:cs typeface="+mn-lt"/>
              </a:rPr>
              <a:t>- GET    /</a:t>
            </a:r>
            <a:r>
              <a:rPr lang="en-US" sz="1400" err="1">
                <a:ea typeface="+mn-lt"/>
                <a:cs typeface="+mn-lt"/>
              </a:rPr>
              <a:t>api</a:t>
            </a:r>
            <a:r>
              <a:rPr lang="en-US" sz="1400" dirty="0">
                <a:ea typeface="+mn-lt"/>
                <a:cs typeface="+mn-lt"/>
              </a:rPr>
              <a:t>/v1/resources/:id</a:t>
            </a:r>
            <a:endParaRPr lang="en-US" sz="1400" dirty="0">
              <a:ea typeface="Calibri"/>
              <a:cs typeface="Calibri"/>
            </a:endParaRPr>
          </a:p>
          <a:p>
            <a:r>
              <a:rPr lang="en-US" sz="1400" dirty="0">
                <a:ea typeface="+mn-lt"/>
                <a:cs typeface="+mn-lt"/>
              </a:rPr>
              <a:t>- GET    /</a:t>
            </a:r>
            <a:r>
              <a:rPr lang="en-US" sz="1400" err="1">
                <a:ea typeface="+mn-lt"/>
                <a:cs typeface="+mn-lt"/>
              </a:rPr>
              <a:t>api</a:t>
            </a:r>
            <a:r>
              <a:rPr lang="en-US" sz="1400" dirty="0">
                <a:ea typeface="+mn-lt"/>
                <a:cs typeface="+mn-lt"/>
              </a:rPr>
              <a:t>/v1/resources/:id/file</a:t>
            </a:r>
            <a:endParaRPr lang="en-US" sz="1400" dirty="0">
              <a:ea typeface="Calibri"/>
              <a:cs typeface="Calibri"/>
            </a:endParaRPr>
          </a:p>
          <a:p>
            <a:r>
              <a:rPr lang="en-US" sz="1400" dirty="0">
                <a:ea typeface="+mn-lt"/>
                <a:cs typeface="+mn-lt"/>
              </a:rPr>
              <a:t>- PUT    /</a:t>
            </a:r>
            <a:r>
              <a:rPr lang="en-US" sz="1400" err="1">
                <a:ea typeface="+mn-lt"/>
                <a:cs typeface="+mn-lt"/>
              </a:rPr>
              <a:t>api</a:t>
            </a:r>
            <a:r>
              <a:rPr lang="en-US" sz="1400" dirty="0">
                <a:ea typeface="+mn-lt"/>
                <a:cs typeface="+mn-lt"/>
              </a:rPr>
              <a:t>/v1/resources/:id</a:t>
            </a:r>
            <a:endParaRPr lang="en-US" sz="1400" dirty="0">
              <a:ea typeface="Calibri"/>
              <a:cs typeface="Calibri"/>
            </a:endParaRPr>
          </a:p>
          <a:p>
            <a:r>
              <a:rPr lang="en-US" sz="1400" dirty="0">
                <a:ea typeface="+mn-lt"/>
                <a:cs typeface="+mn-lt"/>
              </a:rPr>
              <a:t>- DELETE /</a:t>
            </a:r>
            <a:r>
              <a:rPr lang="en-US" sz="1400" err="1">
                <a:ea typeface="+mn-lt"/>
                <a:cs typeface="+mn-lt"/>
              </a:rPr>
              <a:t>api</a:t>
            </a:r>
            <a:r>
              <a:rPr lang="en-US" sz="1400" dirty="0">
                <a:ea typeface="+mn-lt"/>
                <a:cs typeface="+mn-lt"/>
              </a:rPr>
              <a:t>/v1/resources/:id</a:t>
            </a:r>
            <a:endParaRPr lang="en-US" sz="1400" dirty="0">
              <a:ea typeface="Calibri"/>
              <a:cs typeface="Calibri"/>
            </a:endParaRPr>
          </a:p>
          <a:p>
            <a:endParaRPr lang="en-US" sz="1800" dirty="0">
              <a:ea typeface="Calibri"/>
              <a:cs typeface="Calibri"/>
            </a:endParaRPr>
          </a:p>
        </p:txBody>
      </p:sp>
      <p:sp>
        <p:nvSpPr>
          <p:cNvPr id="4" name="Content Placeholder 3">
            <a:extLst>
              <a:ext uri="{FF2B5EF4-FFF2-40B4-BE49-F238E27FC236}">
                <a16:creationId xmlns:a16="http://schemas.microsoft.com/office/drawing/2014/main" id="{49CD9EA5-040D-87E6-CEE5-CA47DC4E40B7}"/>
              </a:ext>
            </a:extLst>
          </p:cNvPr>
          <p:cNvSpPr>
            <a:spLocks noGrp="1"/>
          </p:cNvSpPr>
          <p:nvPr>
            <p:ph sz="half" idx="2"/>
          </p:nvPr>
        </p:nvSpPr>
        <p:spPr>
          <a:xfrm>
            <a:off x="7438768" y="1074943"/>
            <a:ext cx="4495800" cy="3960435"/>
          </a:xfrm>
        </p:spPr>
        <p:txBody>
          <a:bodyPr vert="horz" lIns="91440" tIns="45720" rIns="91440" bIns="45720" rtlCol="0" anchor="t">
            <a:normAutofit/>
          </a:bodyPr>
          <a:lstStyle/>
          <a:p>
            <a:pPr marL="0" indent="0">
              <a:buNone/>
            </a:pPr>
            <a:r>
              <a:rPr lang="en-US" sz="1800" b="1" i="1" u="sng">
                <a:ea typeface="Calibri"/>
                <a:cs typeface="Calibri"/>
              </a:rPr>
              <a:t>Miscellaneous</a:t>
            </a:r>
            <a:endParaRPr lang="en-US" u="sng"/>
          </a:p>
          <a:p>
            <a:r>
              <a:rPr lang="en-US" sz="1800" dirty="0">
                <a:ea typeface="Calibri"/>
                <a:cs typeface="Calibri"/>
              </a:rPr>
              <a:t>- POST   /</a:t>
            </a:r>
            <a:r>
              <a:rPr lang="en-US" sz="1800" dirty="0" err="1">
                <a:ea typeface="Calibri"/>
                <a:cs typeface="Calibri"/>
              </a:rPr>
              <a:t>api</a:t>
            </a:r>
            <a:r>
              <a:rPr lang="en-US" sz="1800" dirty="0">
                <a:ea typeface="Calibri"/>
                <a:cs typeface="Calibri"/>
              </a:rPr>
              <a:t>/v1/miscellaneous</a:t>
            </a:r>
          </a:p>
          <a:p>
            <a:r>
              <a:rPr lang="en-US" sz="1800" dirty="0">
                <a:ea typeface="Calibri"/>
                <a:cs typeface="Calibri"/>
              </a:rPr>
              <a:t>- GET    /</a:t>
            </a:r>
            <a:r>
              <a:rPr lang="en-US" sz="1800" dirty="0" err="1">
                <a:ea typeface="Calibri"/>
                <a:cs typeface="Calibri"/>
              </a:rPr>
              <a:t>api</a:t>
            </a:r>
            <a:r>
              <a:rPr lang="en-US" sz="1800" dirty="0">
                <a:ea typeface="Calibri"/>
                <a:cs typeface="Calibri"/>
              </a:rPr>
              <a:t>/v1/miscellaneous/categories</a:t>
            </a:r>
          </a:p>
          <a:p>
            <a:r>
              <a:rPr lang="en-US" sz="1800" dirty="0">
                <a:ea typeface="Calibri"/>
                <a:cs typeface="Calibri"/>
              </a:rPr>
              <a:t>- GET    /</a:t>
            </a:r>
            <a:r>
              <a:rPr lang="en-US" sz="1800" dirty="0" err="1">
                <a:ea typeface="Calibri"/>
                <a:cs typeface="Calibri"/>
              </a:rPr>
              <a:t>api</a:t>
            </a:r>
            <a:r>
              <a:rPr lang="en-US" sz="1800" dirty="0">
                <a:ea typeface="Calibri"/>
                <a:cs typeface="Calibri"/>
              </a:rPr>
              <a:t>/v1/miscellaneous</a:t>
            </a:r>
          </a:p>
          <a:p>
            <a:r>
              <a:rPr lang="en-US" sz="1800" dirty="0">
                <a:ea typeface="Calibri"/>
                <a:cs typeface="Calibri"/>
              </a:rPr>
              <a:t>- GET    /</a:t>
            </a:r>
            <a:r>
              <a:rPr lang="en-US" sz="1800" dirty="0" err="1">
                <a:ea typeface="Calibri"/>
                <a:cs typeface="Calibri"/>
              </a:rPr>
              <a:t>api</a:t>
            </a:r>
            <a:r>
              <a:rPr lang="en-US" sz="1800" dirty="0">
                <a:ea typeface="Calibri"/>
                <a:cs typeface="Calibri"/>
              </a:rPr>
              <a:t>/v1/miscellaneous/:id</a:t>
            </a:r>
          </a:p>
          <a:p>
            <a:r>
              <a:rPr lang="en-US" sz="1800" dirty="0">
                <a:ea typeface="Calibri"/>
                <a:cs typeface="Calibri"/>
              </a:rPr>
              <a:t>- GET    /</a:t>
            </a:r>
            <a:r>
              <a:rPr lang="en-US" sz="1800" dirty="0" err="1">
                <a:ea typeface="Calibri"/>
                <a:cs typeface="Calibri"/>
              </a:rPr>
              <a:t>api</a:t>
            </a:r>
            <a:r>
              <a:rPr lang="en-US" sz="1800" dirty="0">
                <a:ea typeface="Calibri"/>
                <a:cs typeface="Calibri"/>
              </a:rPr>
              <a:t>/v1/</a:t>
            </a:r>
            <a:r>
              <a:rPr lang="en-US" sz="1800" dirty="0" err="1">
                <a:ea typeface="Calibri"/>
                <a:cs typeface="Calibri"/>
              </a:rPr>
              <a:t>miscell</a:t>
            </a:r>
            <a:endParaRPr lang="en-US" sz="180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413257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C281DFD1-9618-FCC2-F576-BDF07FFE58C5}"/>
              </a:ext>
            </a:extLst>
          </p:cNvPr>
          <p:cNvPicPr>
            <a:picLocks noChangeAspect="1"/>
          </p:cNvPicPr>
          <p:nvPr/>
        </p:nvPicPr>
        <p:blipFill>
          <a:blip r:embed="rId2"/>
          <a:srcRect b="21045"/>
          <a:stretch>
            <a:fillRect/>
          </a:stretch>
        </p:blipFill>
        <p:spPr>
          <a:xfrm>
            <a:off x="457200" y="457200"/>
            <a:ext cx="11277600" cy="5943600"/>
          </a:xfrm>
          <a:prstGeom prst="rect">
            <a:avLst/>
          </a:prstGeom>
        </p:spPr>
      </p:pic>
    </p:spTree>
    <p:extLst>
      <p:ext uri="{BB962C8B-B14F-4D97-AF65-F5344CB8AC3E}">
        <p14:creationId xmlns:p14="http://schemas.microsoft.com/office/powerpoint/2010/main" val="2843299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F76CFC14-A084-6769-2D0A-F0190FA95CD2}"/>
              </a:ext>
            </a:extLst>
          </p:cNvPr>
          <p:cNvPicPr>
            <a:picLocks noChangeAspect="1"/>
          </p:cNvPicPr>
          <p:nvPr/>
        </p:nvPicPr>
        <p:blipFill>
          <a:blip r:embed="rId2"/>
          <a:stretch>
            <a:fillRect/>
          </a:stretch>
        </p:blipFill>
        <p:spPr>
          <a:xfrm>
            <a:off x="-15445" y="0"/>
            <a:ext cx="12202295" cy="6858000"/>
          </a:xfrm>
          <a:prstGeom prst="rect">
            <a:avLst/>
          </a:prstGeom>
        </p:spPr>
      </p:pic>
    </p:spTree>
    <p:extLst>
      <p:ext uri="{BB962C8B-B14F-4D97-AF65-F5344CB8AC3E}">
        <p14:creationId xmlns:p14="http://schemas.microsoft.com/office/powerpoint/2010/main" val="3083565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a:solidFill>
                  <a:schemeClr val="bg1"/>
                </a:solidFill>
              </a:rPr>
              <a:t>Idea</a:t>
            </a:r>
            <a:endParaRPr lang="en-US" sz="100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a:latin typeface="Calibri" pitchFamily="34" charset="0"/>
                <a:ea typeface="Calibri" pitchFamily="34" charset="-122"/>
                <a:cs typeface="Calibri" pitchFamily="34" charset="-120"/>
              </a:rPr>
              <a:t>Impact &amp; Use cases</a:t>
            </a:r>
            <a:endParaRPr lang="en-US" sz="4267"/>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a:p>
        </p:txBody>
      </p:sp>
      <p:sp>
        <p:nvSpPr>
          <p:cNvPr id="9" name="TextBox 8">
            <a:extLst>
              <a:ext uri="{FF2B5EF4-FFF2-40B4-BE49-F238E27FC236}">
                <a16:creationId xmlns:a16="http://schemas.microsoft.com/office/drawing/2014/main" id="{04DB0243-BB37-4E48-8F2A-F31495290DC7}"/>
              </a:ext>
            </a:extLst>
          </p:cNvPr>
          <p:cNvSpPr txBox="1"/>
          <p:nvPr/>
        </p:nvSpPr>
        <p:spPr>
          <a:xfrm>
            <a:off x="556198" y="1633728"/>
            <a:ext cx="11026202" cy="5047536"/>
          </a:xfrm>
          <a:prstGeom prst="rect">
            <a:avLst/>
          </a:prstGeom>
          <a:noFill/>
        </p:spPr>
        <p:txBody>
          <a:bodyPr wrap="square" rtlCol="0">
            <a:spAutoFit/>
          </a:bodyPr>
          <a:lstStyle/>
          <a:p>
            <a:r>
              <a:rPr lang="en-US" sz="1400" b="1"/>
              <a:t>Real Life Scenarios</a:t>
            </a:r>
          </a:p>
          <a:p>
            <a:endParaRPr lang="en-US" sz="1400" b="1"/>
          </a:p>
          <a:p>
            <a:r>
              <a:rPr lang="en-US" sz="1400"/>
              <a:t>In one scenario, a professor sends a WhatsApp message saying, “OS quiz at 1:45 PM in Lab 4 tomorrow.” The student simply forwards the message to MACHA. MACHA reads the text, identifies the subject, event type, time, and venue, then automatically schedules reminders and alerts the student before the quiz.</a:t>
            </a:r>
          </a:p>
          <a:p>
            <a:endParaRPr lang="en-US" sz="1400"/>
          </a:p>
          <a:p>
            <a:r>
              <a:rPr lang="en-US" sz="1400"/>
              <a:t>In another scenario, a student receives DBMS notes from a classmate and forwards them to MACHA. The system analyzes the content, identifies the subject and topic, and automatically organizes and stores the resource in the correct academic category for future access.</a:t>
            </a:r>
          </a:p>
          <a:p>
            <a:endParaRPr lang="en-US" sz="1400"/>
          </a:p>
          <a:p>
            <a:r>
              <a:rPr lang="en-US" sz="1400"/>
              <a:t>MACHA also helps during exam preparation. A student can ask, “Send me Unit 3 DBMS notes,” and MACHA instantly retrieves the correct material using semantic search without the student manually searching through chats or folders. Students can also request summaries of uploaded notes, allowing MACHA to generate concise revision points and key concepts for faster learning and preparation.</a:t>
            </a:r>
          </a:p>
          <a:p>
            <a:endParaRPr lang="en-US" sz="1400"/>
          </a:p>
          <a:p>
            <a:endParaRPr lang="en-US" sz="1400"/>
          </a:p>
          <a:p>
            <a:r>
              <a:rPr lang="en-US" sz="1400" b="1"/>
              <a:t>Scale Potential</a:t>
            </a:r>
          </a:p>
          <a:p>
            <a:endParaRPr lang="en-US" sz="1400" b="1"/>
          </a:p>
          <a:p>
            <a:r>
              <a:rPr lang="en-US" sz="1400"/>
              <a:t>MACHA has the potential to scale far beyond a basic student productivity assistant. The platform can support multiple students, colleges, and educational institutions while integrating additional features such as timetable management, attendance tracking, collaborative resource sharing, multilingual academic support, and AI driven study planning.</a:t>
            </a:r>
          </a:p>
          <a:p>
            <a:endParaRPr lang="en-US" sz="1400"/>
          </a:p>
          <a:p>
            <a:r>
              <a:rPr lang="en-US" sz="1400"/>
              <a:t>Since the system is built around WhatsApp, a platform already used daily by billions of users, MACHA removes the need for students to adopt a completely new application or workflow. This creates strong scalability potential across schools, colleges, coaching centers, and universities globally.</a:t>
            </a:r>
          </a:p>
          <a:p>
            <a:endParaRPr lang="en-IN" sz="1400"/>
          </a:p>
        </p:txBody>
      </p:sp>
    </p:spTree>
    <p:extLst>
      <p:ext uri="{BB962C8B-B14F-4D97-AF65-F5344CB8AC3E}">
        <p14:creationId xmlns:p14="http://schemas.microsoft.com/office/powerpoint/2010/main" val="2277358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a:solidFill>
                  <a:schemeClr val="bg1"/>
                </a:solidFill>
              </a:rPr>
              <a:t>Idea</a:t>
            </a:r>
            <a:endParaRPr lang="en-US" sz="100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a:latin typeface="Calibri" pitchFamily="34" charset="0"/>
                <a:ea typeface="Calibri" pitchFamily="34" charset="-122"/>
                <a:cs typeface="Calibri" pitchFamily="34" charset="-120"/>
              </a:rPr>
              <a:t>Differentiation</a:t>
            </a:r>
            <a:endParaRPr lang="en-US" sz="4267"/>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a:p>
        </p:txBody>
      </p:sp>
      <p:sp>
        <p:nvSpPr>
          <p:cNvPr id="9" name="TextBox 8">
            <a:extLst>
              <a:ext uri="{FF2B5EF4-FFF2-40B4-BE49-F238E27FC236}">
                <a16:creationId xmlns:a16="http://schemas.microsoft.com/office/drawing/2014/main" id="{04DB0243-BB37-4E48-8F2A-F31495290DC7}"/>
              </a:ext>
            </a:extLst>
          </p:cNvPr>
          <p:cNvSpPr txBox="1"/>
          <p:nvPr/>
        </p:nvSpPr>
        <p:spPr>
          <a:xfrm>
            <a:off x="563287" y="1466401"/>
            <a:ext cx="10919876" cy="5047536"/>
          </a:xfrm>
          <a:prstGeom prst="rect">
            <a:avLst/>
          </a:prstGeom>
          <a:noFill/>
        </p:spPr>
        <p:txBody>
          <a:bodyPr wrap="square" rtlCol="0">
            <a:spAutoFit/>
          </a:bodyPr>
          <a:lstStyle/>
          <a:p>
            <a:r>
              <a:rPr lang="en-US" sz="1400" b="1"/>
              <a:t>Why Our Solution Stands Out</a:t>
            </a:r>
          </a:p>
          <a:p>
            <a:endParaRPr lang="en-US" sz="1400" b="1"/>
          </a:p>
          <a:p>
            <a:r>
              <a:rPr lang="en-US" sz="1400" dirty="0"/>
              <a:t>Most productivity tools expect students to already be organized. They assume people will sit down, create folders, type reminders, maintain dashboards, and keep everything updated consistently. In reality, that almost never happens. Academic life is messy, fast paced, and usually spread across WhatsApp groups, forwarded messages, PDFs, screenshots, and random notes from classmates. MACHA stands out because it works with that chaos instead of fighting it.</a:t>
            </a:r>
          </a:p>
          <a:p>
            <a:endParaRPr lang="en-US" sz="1400"/>
          </a:p>
          <a:p>
            <a:r>
              <a:rPr lang="en-US" sz="1400" dirty="0"/>
              <a:t>What makes MACHA different is that it fits naturally into the way students already function. Students do not have to learn a new app or completely change their habits. They can simply forward messages, upload notes, or ask questions in plain language through WhatsApp, and the system handles the organization, reminders, and retrieval automatically. It feels less like using software and more like having an academic assistant that actually understands what is going on.</a:t>
            </a:r>
          </a:p>
          <a:p>
            <a:endParaRPr lang="en-US" sz="1400"/>
          </a:p>
          <a:p>
            <a:endParaRPr lang="en-US" sz="1400"/>
          </a:p>
          <a:p>
            <a:r>
              <a:rPr lang="en-US" sz="1400" b="1"/>
              <a:t>Strong MOAT</a:t>
            </a:r>
          </a:p>
          <a:p>
            <a:endParaRPr lang="en-US" sz="1400" b="1"/>
          </a:p>
          <a:p>
            <a:r>
              <a:rPr lang="en-US" sz="1400"/>
              <a:t>The biggest strength of MACHA is its ability to understand academic context from informal communication. A normal reminder app sees a message as just text. MACHA understands that “OS quiz tomorrow at 1:45 PM in Lab 4” is something important that needs a reminder, context, and prioritization. That layer of academic intelligence is difficult to replicate because it is built around real student communication patterns.</a:t>
            </a:r>
          </a:p>
          <a:p>
            <a:endParaRPr lang="en-US" sz="1400"/>
          </a:p>
          <a:p>
            <a:r>
              <a:rPr lang="en-US" sz="1400"/>
              <a:t>Another major advantage is that MACHA lives inside WhatsApp, where students already spend most of their time. Instead of trying to pull users into another productivity platform, MACHA becomes part of their existing workflow. That lowers friction massively and makes adoption much more natural compared to traditional apps that depend on students consistently staying organized on their own.</a:t>
            </a:r>
          </a:p>
          <a:p>
            <a:endParaRPr lang="en-IN" sz="1400"/>
          </a:p>
        </p:txBody>
      </p:sp>
    </p:spTree>
    <p:extLst>
      <p:ext uri="{BB962C8B-B14F-4D97-AF65-F5344CB8AC3E}">
        <p14:creationId xmlns:p14="http://schemas.microsoft.com/office/powerpoint/2010/main" val="1746425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a:solidFill>
                  <a:schemeClr val="bg1"/>
                </a:solidFill>
              </a:rPr>
              <a:t>Idea</a:t>
            </a:r>
            <a:endParaRPr lang="en-US" sz="100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a:latin typeface="Calibri" pitchFamily="34" charset="0"/>
                <a:ea typeface="Calibri" pitchFamily="34" charset="-122"/>
                <a:cs typeface="Calibri" pitchFamily="34" charset="-120"/>
              </a:rPr>
              <a:t>Demo Link</a:t>
            </a:r>
            <a:endParaRPr lang="en-US" sz="4267"/>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2308324"/>
          </a:xfrm>
          <a:prstGeom prst="rect">
            <a:avLst/>
          </a:prstGeom>
          <a:noFill/>
        </p:spPr>
        <p:txBody>
          <a:bodyPr wrap="square" lIns="91440" tIns="45720" rIns="91440" bIns="45720" rtlCol="0" anchor="t">
            <a:spAutoFit/>
          </a:bodyPr>
          <a:lstStyle/>
          <a:p>
            <a:r>
              <a:rPr lang="en-IN">
                <a:ea typeface="+mn-lt"/>
                <a:cs typeface="+mn-lt"/>
              </a:rPr>
              <a:t>GitHub Repo - https://github.com/SAMURAI-75/MACHA</a:t>
            </a:r>
            <a:br>
              <a:rPr lang="en-IN" dirty="0"/>
            </a:br>
            <a:endParaRPr lang="en-IN">
              <a:ea typeface="+mn-lt"/>
              <a:cs typeface="+mn-lt"/>
            </a:endParaRPr>
          </a:p>
          <a:p>
            <a:r>
              <a:rPr lang="en-IN" dirty="0" err="1">
                <a:ea typeface="+mn-lt"/>
                <a:cs typeface="+mn-lt"/>
              </a:rPr>
              <a:t>VIdeo</a:t>
            </a:r>
            <a:r>
              <a:rPr lang="en-IN" dirty="0">
                <a:ea typeface="+mn-lt"/>
                <a:cs typeface="+mn-lt"/>
              </a:rPr>
              <a:t> demo Link –Existing in the github repository</a:t>
            </a:r>
            <a:br>
              <a:rPr lang="en-IN" dirty="0"/>
            </a:br>
            <a:endParaRPr lang="en-IN">
              <a:ea typeface="+mn-lt"/>
              <a:cs typeface="+mn-lt"/>
            </a:endParaRPr>
          </a:p>
          <a:p>
            <a:endParaRPr lang="en-IN" dirty="0"/>
          </a:p>
          <a:p>
            <a:endParaRPr lang="en-IN">
              <a:ea typeface="+mn-lt"/>
              <a:cs typeface="+mn-lt"/>
            </a:endParaRPr>
          </a:p>
          <a:p>
            <a:endParaRPr lang="en-IN">
              <a:ea typeface="+mn-lt"/>
              <a:cs typeface="+mn-lt"/>
            </a:endParaRPr>
          </a:p>
        </p:txBody>
      </p:sp>
    </p:spTree>
    <p:extLst>
      <p:ext uri="{BB962C8B-B14F-4D97-AF65-F5344CB8AC3E}">
        <p14:creationId xmlns:p14="http://schemas.microsoft.com/office/powerpoint/2010/main" val="1098279544"/>
      </p:ext>
    </p:extLst>
  </p:cSld>
  <p:clrMapOvr>
    <a:masterClrMapping/>
  </p:clrMapOvr>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9</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PortalVTI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DID WE CHOOSE THIS APPROACH?</vt:lpstr>
      <vt:lpstr>Data Storage Design</vt:lpstr>
      <vt:lpstr>Entity-Relationship Diagram for MySQL Database</vt:lpstr>
      <vt:lpstr>PowerPoint Presentation</vt:lpstr>
      <vt:lpstr>PowerPoint Presentation</vt:lpstr>
      <vt:lpstr>API endpoint list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Prakhar Chandrakar ./PRISM /SRI-Bangalore/Professional/Samsung Electronics</dc:creator>
  <cp:revision>191</cp:revision>
  <dcterms:created xsi:type="dcterms:W3CDTF">2026-04-27T09:11:02Z</dcterms:created>
  <dcterms:modified xsi:type="dcterms:W3CDTF">2026-05-08T21:32:38Z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